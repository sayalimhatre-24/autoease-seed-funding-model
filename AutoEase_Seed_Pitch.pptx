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charts/chart1.xml" ContentType="application/vnd.openxmlformats-officedocument.drawingml.chart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charts/chart2.xml" ContentType="application/vnd.openxmlformats-officedocument.drawingml.chart+xml"/>
  <Override PartName="/ppt/charts/chart3.xml" ContentType="application/vnd.openxmlformats-officedocument.drawingml.chart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</p:sldIdLst>
  <p:notesMasterIdLst>
    <p:notesMasterId r:id="rId7"/>
  </p:notesMasterIdLst>
  <p:sldSz cx="12191695" cy="6858000"/>
  <p:notesSz cx="6858000" cy="12191695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notesMaster" Target="notesMasters/notesMaster1.xml"/><Relationship Id="rId8" Type="http://schemas.openxmlformats.org/officeDocument/2006/relationships/presProps" Target="presProps.xml"/><Relationship Id="rId9" Type="http://schemas.openxmlformats.org/officeDocument/2006/relationships/viewProps" Target="viewProps.xml"/><Relationship Id="rId10" Type="http://schemas.openxmlformats.org/officeDocument/2006/relationships/theme" Target="theme/theme1.xml"/><Relationship Id="rId11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_rels/chart2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2.xlsx"/></Relationships>
</file>

<file path=ppt/charts/_rels/chart3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3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Monthly Contribution (₹)</c:v>
                </c:pt>
              </c:strCache>
            </c:strRef>
          </c:tx>
          <c:spPr>
            <a:solidFill>
              <a:srgbClr val="FF7A00"/>
            </a:solidFill>
            <a:effectLst/>
          </c:spPr>
          <c:invertIfNegative val="0"/>
          <c:dLbls>
            <c:numFmt formatCode="₹#,##0" sourceLinked="0"/>
            <c:txPr>
              <a:bodyPr/>
              <a:lstStyle/>
              <a:p>
                <a:pPr>
                  <a:defRPr b="0" i="0" strike="noStrike" sz="900" u="none">
                    <a:solidFill>
                      <a:srgbClr val="0B1F3A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dPt>
            <c:idx val="0"/>
            <c:invertIfNegative val="0"/>
            <c:bubble3D val="0"/>
            <c:spPr>
              <a:solidFill>
                <a:srgbClr val="C0392B"/>
              </a:solidFill>
              <a:effectLst/>
            </c:spPr>
          </c:dPt>
          <c:dPt>
            <c:idx val="1"/>
            <c:invertIfNegative val="0"/>
            <c:bubble3D val="0"/>
            <c:spPr>
              <a:solidFill>
                <a:srgbClr val="C0392B"/>
              </a:solidFill>
              <a:effectLst/>
            </c:spPr>
          </c:dPt>
          <c:dPt>
            <c:idx val="2"/>
            <c:invertIfNegative val="0"/>
            <c:bubble3D val="0"/>
            <c:spPr>
              <a:solidFill>
                <a:srgbClr val="FF7A00"/>
              </a:solidFill>
              <a:effectLst/>
            </c:spPr>
          </c:dPt>
          <c:dPt>
            <c:idx val="3"/>
            <c:invertIfNegative val="0"/>
            <c:bubble3D val="0"/>
            <c:spPr>
              <a:solidFill>
                <a:srgbClr val="FF7A00"/>
              </a:solidFill>
              <a:effectLst/>
            </c:spPr>
          </c:dPt>
          <c:dPt>
            <c:idx val="4"/>
            <c:invertIfNegative val="0"/>
            <c:bubble3D val="0"/>
            <c:spPr>
              <a:solidFill>
                <a:srgbClr val="FF7A00"/>
              </a:solidFill>
              <a:effectLst/>
            </c:spPr>
          </c:dPt>
          <c:cat>
            <c:multiLvlStrRef>
              <c:f>Sheet1!$A$2:$A$6</c:f>
              <c:multiLvlStrCache>
                <c:ptCount val="5"/>
                <c:lvl>
                  <c:pt idx="0">
                    <c:v>30</c:v>
                  </c:pt>
                  <c:pt idx="1">
                    <c:v>40</c:v>
                  </c:pt>
                  <c:pt idx="2">
                    <c:v>50</c:v>
                  </c:pt>
                  <c:pt idx="3">
                    <c:v>60</c:v>
                  </c:pt>
                  <c:pt idx="4">
                    <c:v>72</c:v>
                  </c:pt>
                </c:lvl>
              </c:multiLvlStrCache>
            </c:multiLvl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-14390</c:v>
                </c:pt>
                <c:pt idx="1">
                  <c:v>-7020</c:v>
                </c:pt>
                <c:pt idx="2">
                  <c:v>350</c:v>
                </c:pt>
                <c:pt idx="3">
                  <c:v>7720</c:v>
                </c:pt>
                <c:pt idx="4">
                  <c:v>16570</c:v>
                </c:pt>
              </c:numCache>
            </c:numRef>
          </c:val>
        </c:ser>
        <c:dLbls>
          <c:numFmt formatCode="₹#,##0" sourceLinked="0"/>
          <c:txPr>
            <a:bodyPr/>
            <a:lstStyle/>
            <a:p>
              <a:pPr>
                <a:defRPr b="0" i="0" strike="noStrike" sz="900" u="none">
                  <a:solidFill>
                    <a:srgbClr val="0B1F3A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title>
          <c:tx>
            <c:rich>
              <a:bodyPr/>
              <a:lstStyle/>
              <a:p>
                <a:pPr>
                  <a:defRPr sz="1000" b="0" i="0" u="none" strike="noStrike">
                    <a:solidFill>
                      <a:srgbClr val="5B6B7F"/>
                    </a:solidFill>
                    <a:latin typeface="Arial"/>
                  </a:defRPr>
                </a:pPr>
                <a:r>
                  <a:rPr sz="1000" b="0" i="0" u="none" strike="noStrike">
                    <a:solidFill>
                      <a:srgbClr val="5B6B7F"/>
                    </a:solidFill>
                    <a:latin typeface="Arial"/>
                  </a:rPr>
                  <a:t>AMC customers in society</a:t>
                </a:r>
              </a:p>
            </c:rich>
          </c:tx>
          <c:layout/>
          <c:overlay val="0"/>
        </c:title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C7CFDA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5B6B7F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1"/>
        <c:axPos val="l"/>
        <c:numFmt formatCode="General" sourceLinked="0"/>
        <c:majorTickMark val="out"/>
        <c:minorTickMark val="none"/>
        <c:tickLblPos val="nextTo"/>
        <c:spPr>
          <a:ln w="12700" cap="flat">
            <a:noFill/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solidFill>
          <a:srgbClr val="F7F8FA"/>
        </a:solidFill>
        <a:ln>
          <a:noFill/>
        </a:ln>
        <a:effectLst/>
      </c:spPr>
    </c:plotArea>
    <c:plotVisOnly val="1"/>
    <c:dispBlanksAs val="span"/>
  </c:chart>
  <c:spPr>
    <a:solidFill>
      <a:srgbClr val="F7F8FA"/>
    </a:solidFill>
    <a:ln>
      <a:noFill/>
    </a:ln>
    <a:effectLst/>
  </c:sp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Revenue (₹L)</c:v>
                </c:pt>
              </c:strCache>
            </c:strRef>
          </c:tx>
          <c:spPr>
            <a:solidFill>
              <a:srgbClr val="1B3B6F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850" u="none">
                    <a:solidFill>
                      <a:srgbClr val="0B1F3A"/>
                    </a:solidFill>
                    <a:latin typeface="Arial"/>
                  </a:defRPr>
                </a:pPr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Sheet1!$A$2:$A$6</c:f>
              <c:multiLvlStrCache>
                <c:ptCount val="5"/>
                <c:lvl>
                  <c:pt idx="0">
                    <c:v>Y1</c:v>
                  </c:pt>
                  <c:pt idx="1">
                    <c:v>Y2</c:v>
                  </c:pt>
                  <c:pt idx="2">
                    <c:v>Y3</c:v>
                  </c:pt>
                  <c:pt idx="3">
                    <c:v>Y4</c:v>
                  </c:pt>
                  <c:pt idx="4">
                    <c:v>Y5</c:v>
                  </c:pt>
                </c:lvl>
              </c:multiLvlStrCache>
            </c:multiLvl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31</c:v>
                </c:pt>
                <c:pt idx="1">
                  <c:v>111</c:v>
                </c:pt>
                <c:pt idx="2">
                  <c:v>280</c:v>
                </c:pt>
                <c:pt idx="3">
                  <c:v>558</c:v>
                </c:pt>
                <c:pt idx="4">
                  <c:v>937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850" u="none">
                  <a:solidFill>
                    <a:srgbClr val="0B1F3A"/>
                  </a:solidFill>
                  <a:latin typeface="Arial"/>
                </a:defRPr>
              </a:pPr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lineChart>
        <c:varyColors val="0"/>
        <c:ser>
          <c:idx val="1"/>
          <c:order val="1"/>
          <c:tx>
            <c:strRef>
              <c:f>Sheet1!$C$1</c:f>
              <c:strCache>
                <c:ptCount val="1"/>
                <c:pt idx="0">
                  <c:v>EBITDA (₹L)</c:v>
                </c:pt>
              </c:strCache>
            </c:strRef>
          </c:tx>
          <c:spPr>
            <a:solidFill>
              <a:srgbClr val="FF7A00"/>
            </a:solidFill>
            <a:ln w="38100" cap="flat">
              <a:solidFill>
                <a:srgbClr val="FF7A00"/>
              </a:solidFill>
              <a:prstDash val="solid"/>
              <a:round/>
            </a:ln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850" u="none">
                    <a:solidFill>
                      <a:srgbClr val="FF7A00"/>
                    </a:solidFill>
                    <a:latin typeface="Arial"/>
                  </a:defRPr>
                </a:pPr>
              </a:p>
            </c:txPr>
            <c:dLblPos val="t"/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marker>
            <c:symbol val="circle"/>
            <c:size val="7"/>
            <c:spPr>
              <a:solidFill>
                <a:srgbClr val="FF7A00"/>
              </a:solidFill>
              <a:ln w="9525" cap="flat">
                <a:solidFill>
                  <a:srgbClr val="FF7A00"/>
                </a:solidFill>
                <a:prstDash val="solid"/>
                <a:round/>
              </a:ln>
              <a:effectLst/>
            </c:spPr>
          </c:marker>
          <c:cat>
            <c:multiLvlStrRef>
              <c:f>Sheet1!$A$2:$A$6</c:f>
              <c:multiLvlStrCache>
                <c:ptCount val="5"/>
                <c:lvl>
                  <c:pt idx="0">
                    <c:v>Y1</c:v>
                  </c:pt>
                  <c:pt idx="1">
                    <c:v>Y2</c:v>
                  </c:pt>
                  <c:pt idx="2">
                    <c:v>Y3</c:v>
                  </c:pt>
                  <c:pt idx="3">
                    <c:v>Y4</c:v>
                  </c:pt>
                  <c:pt idx="4">
                    <c:v>Y5</c:v>
                  </c:pt>
                </c:lvl>
              </c:multiLvlStrCache>
            </c:multiLvlStrRef>
          </c:cat>
          <c:val>
            <c:numRef>
              <c:f>Sheet1!$C$2:$C$6</c:f>
              <c:numCache>
                <c:formatCode>General</c:formatCode>
                <c:ptCount val="5"/>
                <c:pt idx="0">
                  <c:v>-42</c:v>
                </c:pt>
                <c:pt idx="1">
                  <c:v>-35</c:v>
                </c:pt>
                <c:pt idx="2">
                  <c:v>-2</c:v>
                </c:pt>
                <c:pt idx="3">
                  <c:v>81</c:v>
                </c:pt>
                <c:pt idx="4">
                  <c:v>205</c:v>
                </c:pt>
              </c:numCache>
            </c:numRef>
          </c:val>
          <c:smooth val="0"/>
        </c:ser>
        <c:dLbls>
          <c:numFmt formatCode="#,##0" sourceLinked="0"/>
          <c:txPr>
            <a:bodyPr/>
            <a:lstStyle/>
            <a:p>
              <a:pPr>
                <a:defRPr b="0" i="0" strike="noStrike" sz="850" u="none">
                  <a:solidFill>
                    <a:srgbClr val="FF7A00"/>
                  </a:solidFill>
                  <a:latin typeface="Arial"/>
                </a:defRPr>
              </a:pPr>
            </a:p>
          </c:txPr>
          <c:dLblPos val="t"/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marker val="1"/>
        <c:axId val="2094734554"/>
        <c:axId val="2094734552"/>
        <c:axId val="2094734556"/>
      </c:line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C7CFDA"/>
            </a:solidFill>
            <a:prstDash val="solid"/>
            <a:round/>
          </a:ln>
        </c:spPr>
        <c:txPr>
          <a:bodyPr/>
          <a:lstStyle/>
          <a:p>
            <a:pPr>
              <a:defRPr sz="1050" b="0" i="0" u="none" strike="noStrike">
                <a:solidFill>
                  <a:srgbClr val="5B6B7F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1"/>
        <c:axPos val="l"/>
        <c:numFmt formatCode="General" sourceLinked="0"/>
        <c:majorTickMark val="out"/>
        <c:minorTickMark val="none"/>
        <c:tickLblPos val="nextTo"/>
        <c:spPr>
          <a:ln w="12700" cap="flat">
            <a:noFill/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solidFill>
          <a:srgbClr val="F7F8FA"/>
        </a:solidFill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 sz="1000">
              <a:solidFill>
                <a:srgbClr val="5B6B7F"/>
              </a:solidFill>
            </a:defRPr>
          </a:pPr>
          <a:endParaRPr lang="en-US"/>
        </a:p>
      </c:txPr>
    </c:legend>
    <c:plotVisOnly val="1"/>
    <c:dispBlanksAs val="span"/>
  </c:chart>
  <c:spPr>
    <a:solidFill>
      <a:srgbClr val="F7F8FA"/>
    </a:solidFill>
    <a:ln>
      <a:noFill/>
    </a:ln>
    <a:effectLst/>
  </c:spPr>
  <c:externalData r:id="rId1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doughnut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Use of funds</c:v>
                </c:pt>
              </c:strCache>
            </c:strRef>
          </c:tx>
          <c:spPr>
            <a:solidFill>
              <a:schemeClr val="accent1"/>
            </a:solidFill>
            <a:ln w="9525" cap="flat">
              <a:solidFill>
                <a:srgbClr val="F9F9F9"/>
              </a:solidFill>
              <a:prstDash val="solid"/>
              <a:round/>
            </a:ln>
            <a:effectLst/>
          </c:spPr>
          <c:dPt>
            <c:idx val="0"/>
            <c:bubble3D val="0"/>
            <c:spPr>
              <a:solidFill>
                <a:srgbClr val="0B1F3A"/>
              </a:solidFill>
              <a:ln w="12700" cap="flat">
                <a:solidFill>
                  <a:srgbClr val="F7F8FA"/>
                </a:solidFill>
                <a:prstDash val="solid"/>
                <a:round/>
              </a:ln>
              <a:effectLst/>
            </c:spPr>
          </c:dPt>
          <c:dPt>
            <c:idx val="1"/>
            <c:bubble3D val="0"/>
            <c:spPr>
              <a:solidFill>
                <a:srgbClr val="1B3B6F"/>
              </a:solidFill>
              <a:ln w="12700" cap="flat">
                <a:solidFill>
                  <a:srgbClr val="F7F8FA"/>
                </a:solidFill>
                <a:prstDash val="solid"/>
                <a:round/>
              </a:ln>
              <a:effectLst/>
            </c:spPr>
          </c:dPt>
          <c:dPt>
            <c:idx val="2"/>
            <c:bubble3D val="0"/>
            <c:spPr>
              <a:solidFill>
                <a:srgbClr val="FF7A00"/>
              </a:solidFill>
              <a:ln w="12700" cap="flat">
                <a:solidFill>
                  <a:srgbClr val="F7F8FA"/>
                </a:solidFill>
                <a:prstDash val="solid"/>
                <a:round/>
              </a:ln>
              <a:effectLst/>
            </c:spPr>
          </c:dPt>
          <c:dPt>
            <c:idx val="3"/>
            <c:bubble3D val="0"/>
            <c:spPr>
              <a:solidFill>
                <a:srgbClr val="7D93B5"/>
              </a:solidFill>
              <a:ln w="12700" cap="flat">
                <a:solidFill>
                  <a:srgbClr val="F7F8FA"/>
                </a:solidFill>
                <a:prstDash val="solid"/>
                <a:round/>
              </a:ln>
              <a:effectLst/>
            </c:spPr>
          </c:dPt>
          <c:dPt>
            <c:idx val="4"/>
            <c:bubble3D val="0"/>
            <c:spPr>
              <a:solidFill>
                <a:srgbClr val="C7CFDA"/>
              </a:solidFill>
              <a:ln w="12700" cap="flat">
                <a:solidFill>
                  <a:srgbClr val="F7F8FA"/>
                </a:solidFill>
                <a:prstDash val="solid"/>
                <a:round/>
              </a:ln>
              <a:effectLst/>
            </c:spPr>
          </c:dPt>
          <c:dLbls>
            <c:dLbl>
              <c:idx val="0"/>
              <c:numFmt formatCode="0.0" sourceLinked="0"/>
              <c:spPr/>
              <c:txPr>
                <a:bodyPr/>
                <a:lstStyle/>
                <a:p>
                  <a:pPr>
                    <a:defRPr sz="1200" b="0" i="0" u="none" strike="noStrike">
                      <a:solidFill>
                        <a:srgbClr val="000000"/>
                      </a:solidFill>
                      <a:latin typeface="Arial"/>
                    </a:defRPr>
                  </a:pPr>
                </a:p>
              </c:txPr>
              <c:showLegendKey val="0"/>
              <c:showVal val="0"/>
              <c:showCatName val="0"/>
              <c:showSerName val="0"/>
              <c:showPercent val="0"/>
              <c:showBubbleSize val="0"/>
            </c:dLbl>
            <c:dLbl>
              <c:idx val="1"/>
              <c:numFmt formatCode="0.0" sourceLinked="0"/>
              <c:spPr/>
              <c:txPr>
                <a:bodyPr/>
                <a:lstStyle/>
                <a:p>
                  <a:pPr>
                    <a:defRPr sz="1200" b="0" i="0" u="none" strike="noStrike">
                      <a:solidFill>
                        <a:srgbClr val="000000"/>
                      </a:solidFill>
                      <a:latin typeface="Arial"/>
                    </a:defRPr>
                  </a:pPr>
                </a:p>
              </c:txPr>
              <c:showLegendKey val="0"/>
              <c:showVal val="0"/>
              <c:showCatName val="0"/>
              <c:showSerName val="0"/>
              <c:showPercent val="0"/>
              <c:showBubbleSize val="0"/>
            </c:dLbl>
            <c:dLbl>
              <c:idx val="2"/>
              <c:numFmt formatCode="0.0" sourceLinked="0"/>
              <c:spPr/>
              <c:txPr>
                <a:bodyPr/>
                <a:lstStyle/>
                <a:p>
                  <a:pPr>
                    <a:defRPr sz="1200" b="0" i="0" u="none" strike="noStrike">
                      <a:solidFill>
                        <a:srgbClr val="000000"/>
                      </a:solidFill>
                      <a:latin typeface="Arial"/>
                    </a:defRPr>
                  </a:pPr>
                </a:p>
              </c:txPr>
              <c:showLegendKey val="0"/>
              <c:showVal val="0"/>
              <c:showCatName val="0"/>
              <c:showSerName val="0"/>
              <c:showPercent val="0"/>
              <c:showBubbleSize val="0"/>
            </c:dLbl>
            <c:dLbl>
              <c:idx val="3"/>
              <c:numFmt formatCode="0.0" sourceLinked="0"/>
              <c:spPr/>
              <c:txPr>
                <a:bodyPr/>
                <a:lstStyle/>
                <a:p>
                  <a:pPr>
                    <a:defRPr sz="1200" b="0" i="0" u="none" strike="noStrike">
                      <a:solidFill>
                        <a:srgbClr val="000000"/>
                      </a:solidFill>
                      <a:latin typeface="Arial"/>
                    </a:defRPr>
                  </a:pPr>
                </a:p>
              </c:txPr>
              <c:showLegendKey val="0"/>
              <c:showVal val="0"/>
              <c:showCatName val="0"/>
              <c:showSerName val="0"/>
              <c:showPercent val="0"/>
              <c:showBubbleSize val="0"/>
            </c:dLbl>
            <c:dLbl>
              <c:idx val="4"/>
              <c:numFmt formatCode="0.0" sourceLinked="0"/>
              <c:spPr/>
              <c:txPr>
                <a:bodyPr/>
                <a:lstStyle/>
                <a:p>
                  <a:pPr>
                    <a:defRPr sz="1200" b="0" i="0" u="none" strike="noStrike">
                      <a:solidFill>
                        <a:srgbClr val="000000"/>
                      </a:solidFill>
                      <a:latin typeface="Arial"/>
                    </a:defRPr>
                  </a:pPr>
                </a:p>
              </c:txPr>
              <c:showLegendKey val="0"/>
              <c:showVal val="0"/>
              <c:showCatName val="0"/>
              <c:showSerName val="0"/>
              <c:showPercent val="0"/>
              <c:showBubbleSize val="0"/>
            </c:dLbl>
            <c:numFmt formatCode="0.0" sourceLinked="0"/>
            <c:txPr>
              <a:bodyPr/>
              <a:lstStyle/>
              <a:p>
                <a:pPr>
                  <a:defRPr sz="1800" b="0" i="0" u="none" strike="noStrik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1"/>
            <c:showSerName val="0"/>
            <c:showPercent val="1"/>
            <c:showBubbleSize val="0"/>
            <c:showLeaderLines val="0"/>
          </c:dLbls>
          <c:cat>
            <c:strRef>
              <c:f>Sheet1!$A$2:$A$6</c:f>
              <c:strCache>
                <c:ptCount val="5"/>
                <c:pt idx="0">
                  <c:v>Team &amp; field ops</c:v>
                </c:pt>
                <c:pt idx="1">
                  <c:v>Technology</c:v>
                </c:pt>
                <c:pt idx="2">
                  <c:v>Equipment &amp; marketing</c:v>
                </c:pt>
                <c:pt idx="3">
                  <c:v>Legal &amp; contingency</c:v>
                </c:pt>
                <c:pt idx="4">
                  <c:v>Working capital</c:v>
                </c:pt>
              </c:strCache>
            </c:strRef>
          </c:cat>
          <c:val>
            <c:numRef>
              <c:f>Sheet1!$B$2:$B$6</c:f>
              <c:numCache>
                <c:ptCount val="5"/>
                <c:pt idx="0">
                  <c:v>21.8</c:v>
                </c:pt>
                <c:pt idx="1">
                  <c:v>12</c:v>
                </c:pt>
                <c:pt idx="2">
                  <c:v>5.5</c:v>
                </c:pt>
                <c:pt idx="3">
                  <c:v>3.5</c:v>
                </c:pt>
                <c:pt idx="4">
                  <c:v>2.2</c:v>
                </c:pt>
              </c:numCache>
            </c:numRef>
          </c:val>
        </c:ser>
        <c:firstSliceAng val="0"/>
        <c:holeSize val="55"/>
      </c:doughnutChart>
      <c:spPr>
        <a:noFill/>
        <a:ln>
          <a:noFill/>
        </a:ln>
        <a:effectLst/>
      </c:spPr>
    </c:plotArea>
    <c:legend>
      <c:legendPos val="r"/>
      <c:overlay val="0"/>
      <c:txPr>
        <a:bodyPr/>
        <a:lstStyle/>
        <a:p>
          <a:pPr>
            <a:defRPr sz="900">
              <a:solidFill>
                <a:srgbClr val="1A1A1A"/>
              </a:solidFill>
            </a:defRPr>
          </a:pPr>
          <a:endParaRPr lang="en-US"/>
        </a:p>
      </c:txPr>
    </c:legend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image" Target="../media/image-1-2.png"/><Relationship Id="rId3" Type="http://schemas.openxmlformats.org/officeDocument/2006/relationships/image" Target="../media/image-1-3.png"/><Relationship Id="rId4" Type="http://schemas.openxmlformats.org/officeDocument/2006/relationships/image" Target="../media/image-1-4.png"/><Relationship Id="rId5" Type="http://schemas.openxmlformats.org/officeDocument/2006/relationships/image" Target="../media/image-1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6" Type="http://schemas.openxmlformats.org/officeDocument/2006/relationships/chart" Target="/ppt/charts/chart1.xml"/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image" Target="../media/image-2-3.png"/><Relationship Id="rId4" Type="http://schemas.openxmlformats.org/officeDocument/2006/relationships/image" Target="../media/image-2-4.png"/><Relationship Id="rId5" Type="http://schemas.openxmlformats.org/officeDocument/2006/relationships/image" Target="../media/image-2-5.pn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png"/><Relationship Id="rId3" Type="http://schemas.openxmlformats.org/officeDocument/2006/relationships/image" Target="../media/image-3-3.png"/><Relationship Id="rId4" Type="http://schemas.openxmlformats.org/officeDocument/2006/relationships/image" Target="../media/image-3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2.xml"/><Relationship Id="rId2" Type="http://schemas.openxmlformats.org/officeDocument/2006/relationships/chart" Target="/ppt/charts/chart3.xml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image" Target="../media/image-5-1.png"/><Relationship Id="rId3" Type="http://schemas.openxmlformats.org/officeDocument/2006/relationships/image" Target="../media/image-5-1.png"/><Relationship Id="rId4" Type="http://schemas.openxmlformats.org/officeDocument/2006/relationships/image" Target="../media/image-5-1.png"/><Relationship Id="rId5" Type="http://schemas.openxmlformats.org/officeDocument/2006/relationships/image" Target="../media/image-5-5.png"/><Relationship Id="rId6" Type="http://schemas.openxmlformats.org/officeDocument/2006/relationships/image" Target="../media/image-5-5.png"/><Relationship Id="rId7" Type="http://schemas.openxmlformats.org/officeDocument/2006/relationships/image" Target="../media/image-5-5.png"/><Relationship Id="rId8" Type="http://schemas.openxmlformats.org/officeDocument/2006/relationships/image" Target="../media/image-5-5.png"/><Relationship Id="rId9" Type="http://schemas.openxmlformats.org/officeDocument/2006/relationships/image" Target="../media/image-5-5.png"/><Relationship Id="rId10" Type="http://schemas.openxmlformats.org/officeDocument/2006/relationships/slideLayout" Target="../slideLayouts/slideLayout1.xml"/><Relationship Id="rId11" Type="http://schemas.openxmlformats.org/officeDocument/2006/relationships/notesSlide" Target="../notesSlides/notesSlide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B1F3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11480"/>
            <a:ext cx="9144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spc="200" kern="0" dirty="0">
                <a:solidFill>
                  <a:srgbClr val="FF7A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SEED FUNDING PITCH  ·  NOIDA PILOT → NCR SCALE-UP</a:t>
            </a:r>
            <a:endParaRPr lang="en-US" sz="1250" dirty="0"/>
          </a:p>
        </p:txBody>
      </p:sp>
      <p:sp>
        <p:nvSpPr>
          <p:cNvPr id="3" name="Text 1"/>
          <p:cNvSpPr txBox="1"/>
          <p:nvPr/>
        </p:nvSpPr>
        <p:spPr>
          <a:xfrm>
            <a:off x="502920" y="685800"/>
            <a:ext cx="82296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AutoEase</a:t>
            </a:r>
            <a:endParaRPr lang="en-US" sz="54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1691640"/>
            <a:ext cx="9601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900" i="1" dirty="0">
                <a:solidFill>
                  <a:srgbClr val="CFE0F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Your monthly car-care plan + one-tap emergency assistance.</a:t>
            </a:r>
            <a:endParaRPr lang="en-US" sz="190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2194560"/>
            <a:ext cx="87782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AFC3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subscription-led car-care marketplace for working professionals in high-density apartment societies — dedicated cleaners on a monthly plan, plus one-tap access to verified emergency mechanics.</a:t>
            </a:r>
            <a:endParaRPr lang="en-US" sz="1250" dirty="0"/>
          </a:p>
        </p:txBody>
      </p:sp>
      <p:sp>
        <p:nvSpPr>
          <p:cNvPr id="6" name="Text 4"/>
          <p:cNvSpPr txBox="1"/>
          <p:nvPr/>
        </p:nvSpPr>
        <p:spPr>
          <a:xfrm>
            <a:off x="548640" y="288036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150" kern="0" dirty="0">
                <a:solidFill>
                  <a:srgbClr val="FF7A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MOMENT THAT MATTERS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1115568" y="3291840"/>
            <a:ext cx="713232" cy="713232"/>
          </a:xfrm>
          <a:prstGeom prst="ellipse">
            <a:avLst/>
          </a:prstGeom>
          <a:solidFill>
            <a:srgbClr val="1B3B6F"/>
          </a:solidFill>
          <a:ln/>
        </p:spPr>
      </p:sp>
      <p:pic>
        <p:nvPicPr>
          <p:cNvPr id="8" name="Image 0" descr="/home/claude/autoease/icons/alert_FF7A00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280160" y="3456432"/>
            <a:ext cx="384048" cy="384048"/>
          </a:xfrm>
          <a:prstGeom prst="rect">
            <a:avLst/>
          </a:prstGeom>
        </p:spPr>
      </p:pic>
      <p:sp>
        <p:nvSpPr>
          <p:cNvPr id="9" name="Text 6"/>
          <p:cNvSpPr txBox="1"/>
          <p:nvPr/>
        </p:nvSpPr>
        <p:spPr>
          <a:xfrm>
            <a:off x="502920" y="4114800"/>
            <a:ext cx="1947672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ts val="1300"/>
              </a:lnSpc>
              <a:buNone/>
            </a:pPr>
            <a:r>
              <a:rPr lang="en-US" sz="1050" dirty="0">
                <a:solidFill>
                  <a:srgbClr val="D9E4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Tyre puncture</a:t>
            </a:r>
            <a:endParaRPr lang="en-US" sz="1050" dirty="0"/>
          </a:p>
          <a:p>
            <a:pPr algn="ctr" indent="0" marL="0">
              <a:lnSpc>
                <a:spcPts val="1300"/>
              </a:lnSpc>
              <a:buNone/>
            </a:pPr>
            <a:r>
              <a:rPr lang="en-US" sz="1050" dirty="0">
                <a:solidFill>
                  <a:srgbClr val="D9E4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 the way to work</a:t>
            </a:r>
            <a:endParaRPr lang="en-US" sz="1050" dirty="0"/>
          </a:p>
        </p:txBody>
      </p:sp>
      <p:sp>
        <p:nvSpPr>
          <p:cNvPr id="10" name="Text 7"/>
          <p:cNvSpPr txBox="1"/>
          <p:nvPr/>
        </p:nvSpPr>
        <p:spPr>
          <a:xfrm>
            <a:off x="2176272" y="3401568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6E85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2200" dirty="0"/>
          </a:p>
        </p:txBody>
      </p:sp>
      <p:sp>
        <p:nvSpPr>
          <p:cNvPr id="11" name="Shape 8"/>
          <p:cNvSpPr/>
          <p:nvPr/>
        </p:nvSpPr>
        <p:spPr>
          <a:xfrm>
            <a:off x="3200400" y="3291840"/>
            <a:ext cx="713232" cy="713232"/>
          </a:xfrm>
          <a:prstGeom prst="ellipse">
            <a:avLst/>
          </a:prstGeom>
          <a:solidFill>
            <a:srgbClr val="1B3B6F"/>
          </a:solidFill>
          <a:ln/>
        </p:spPr>
      </p:sp>
      <p:pic>
        <p:nvPicPr>
          <p:cNvPr id="12" name="Image 1" descr="/home/claude/autoease/icons/mobile_FF7A00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364992" y="3456432"/>
            <a:ext cx="384048" cy="384048"/>
          </a:xfrm>
          <a:prstGeom prst="rect">
            <a:avLst/>
          </a:prstGeom>
        </p:spPr>
      </p:pic>
      <p:sp>
        <p:nvSpPr>
          <p:cNvPr id="13" name="Text 9"/>
          <p:cNvSpPr txBox="1"/>
          <p:nvPr/>
        </p:nvSpPr>
        <p:spPr>
          <a:xfrm>
            <a:off x="2587752" y="4114800"/>
            <a:ext cx="1947672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ts val="1300"/>
              </a:lnSpc>
              <a:buNone/>
            </a:pPr>
            <a:r>
              <a:rPr lang="en-US" sz="1050" dirty="0">
                <a:solidFill>
                  <a:srgbClr val="D9E4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Opens AutoEase,</a:t>
            </a:r>
            <a:endParaRPr lang="en-US" sz="1050" dirty="0"/>
          </a:p>
          <a:p>
            <a:pPr algn="ctr" indent="0" marL="0">
              <a:lnSpc>
                <a:spcPts val="1300"/>
              </a:lnSpc>
              <a:buNone/>
            </a:pPr>
            <a:r>
              <a:rPr lang="en-US" sz="1050" dirty="0">
                <a:solidFill>
                  <a:srgbClr val="D9E4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shares location</a:t>
            </a:r>
            <a:endParaRPr lang="en-US" sz="1050" dirty="0"/>
          </a:p>
        </p:txBody>
      </p:sp>
      <p:sp>
        <p:nvSpPr>
          <p:cNvPr id="14" name="Text 10"/>
          <p:cNvSpPr txBox="1"/>
          <p:nvPr/>
        </p:nvSpPr>
        <p:spPr>
          <a:xfrm>
            <a:off x="4261104" y="3401568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6E85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2200" dirty="0"/>
          </a:p>
        </p:txBody>
      </p:sp>
      <p:sp>
        <p:nvSpPr>
          <p:cNvPr id="15" name="Shape 11"/>
          <p:cNvSpPr/>
          <p:nvPr/>
        </p:nvSpPr>
        <p:spPr>
          <a:xfrm>
            <a:off x="5285232" y="3291840"/>
            <a:ext cx="713232" cy="713232"/>
          </a:xfrm>
          <a:prstGeom prst="ellipse">
            <a:avLst/>
          </a:prstGeom>
          <a:solidFill>
            <a:srgbClr val="1B3B6F"/>
          </a:solidFill>
          <a:ln/>
        </p:spPr>
      </p:sp>
      <p:pic>
        <p:nvPicPr>
          <p:cNvPr id="16" name="Image 2" descr="/home/claude/autoease/icons/shield_FF7A00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49824" y="3456432"/>
            <a:ext cx="384048" cy="384048"/>
          </a:xfrm>
          <a:prstGeom prst="rect">
            <a:avLst/>
          </a:prstGeom>
        </p:spPr>
      </p:pic>
      <p:sp>
        <p:nvSpPr>
          <p:cNvPr id="17" name="Text 12"/>
          <p:cNvSpPr txBox="1"/>
          <p:nvPr/>
        </p:nvSpPr>
        <p:spPr>
          <a:xfrm>
            <a:off x="4672584" y="4114800"/>
            <a:ext cx="1947672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ts val="1300"/>
              </a:lnSpc>
              <a:buNone/>
            </a:pPr>
            <a:r>
              <a:rPr lang="en-US" sz="1050" dirty="0">
                <a:solidFill>
                  <a:srgbClr val="D9E4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Verified mechanic</a:t>
            </a:r>
            <a:endParaRPr lang="en-US" sz="1050" dirty="0"/>
          </a:p>
          <a:p>
            <a:pPr algn="ctr" indent="0" marL="0">
              <a:lnSpc>
                <a:spcPts val="1300"/>
              </a:lnSpc>
              <a:buNone/>
            </a:pPr>
            <a:r>
              <a:rPr lang="en-US" sz="1050" dirty="0">
                <a:solidFill>
                  <a:srgbClr val="D9E4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accepts nearby</a:t>
            </a:r>
            <a:endParaRPr lang="en-US" sz="1050" dirty="0"/>
          </a:p>
        </p:txBody>
      </p:sp>
      <p:sp>
        <p:nvSpPr>
          <p:cNvPr id="18" name="Text 13"/>
          <p:cNvSpPr txBox="1"/>
          <p:nvPr/>
        </p:nvSpPr>
        <p:spPr>
          <a:xfrm>
            <a:off x="6345936" y="3401568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6E85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2200" dirty="0"/>
          </a:p>
        </p:txBody>
      </p:sp>
      <p:sp>
        <p:nvSpPr>
          <p:cNvPr id="19" name="Shape 14"/>
          <p:cNvSpPr/>
          <p:nvPr/>
        </p:nvSpPr>
        <p:spPr>
          <a:xfrm>
            <a:off x="7370064" y="3291840"/>
            <a:ext cx="713232" cy="713232"/>
          </a:xfrm>
          <a:prstGeom prst="ellipse">
            <a:avLst/>
          </a:prstGeom>
          <a:solidFill>
            <a:srgbClr val="1B3B6F"/>
          </a:solidFill>
          <a:ln/>
        </p:spPr>
      </p:sp>
      <p:pic>
        <p:nvPicPr>
          <p:cNvPr id="20" name="Image 3" descr="/home/claude/autoease/icons/pin_FF7A00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534656" y="3456432"/>
            <a:ext cx="384048" cy="384048"/>
          </a:xfrm>
          <a:prstGeom prst="rect">
            <a:avLst/>
          </a:prstGeom>
        </p:spPr>
      </p:pic>
      <p:sp>
        <p:nvSpPr>
          <p:cNvPr id="21" name="Text 15"/>
          <p:cNvSpPr txBox="1"/>
          <p:nvPr/>
        </p:nvSpPr>
        <p:spPr>
          <a:xfrm>
            <a:off x="6757416" y="4114800"/>
            <a:ext cx="1947672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ts val="1300"/>
              </a:lnSpc>
              <a:buNone/>
            </a:pPr>
            <a:r>
              <a:rPr lang="en-US" sz="1050" dirty="0">
                <a:solidFill>
                  <a:srgbClr val="D9E4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Customer tracks</a:t>
            </a:r>
            <a:endParaRPr lang="en-US" sz="1050" dirty="0"/>
          </a:p>
          <a:p>
            <a:pPr algn="ctr" indent="0" marL="0">
              <a:lnSpc>
                <a:spcPts val="1300"/>
              </a:lnSpc>
              <a:buNone/>
            </a:pPr>
            <a:r>
              <a:rPr lang="en-US" sz="1050" dirty="0">
                <a:solidFill>
                  <a:srgbClr val="D9E4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 arrival</a:t>
            </a:r>
            <a:endParaRPr lang="en-US" sz="1050" dirty="0"/>
          </a:p>
        </p:txBody>
      </p:sp>
      <p:sp>
        <p:nvSpPr>
          <p:cNvPr id="22" name="Text 16"/>
          <p:cNvSpPr txBox="1"/>
          <p:nvPr/>
        </p:nvSpPr>
        <p:spPr>
          <a:xfrm>
            <a:off x="8430768" y="3401568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6E85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2200" dirty="0"/>
          </a:p>
        </p:txBody>
      </p:sp>
      <p:sp>
        <p:nvSpPr>
          <p:cNvPr id="23" name="Shape 17"/>
          <p:cNvSpPr/>
          <p:nvPr/>
        </p:nvSpPr>
        <p:spPr>
          <a:xfrm>
            <a:off x="9454896" y="3291840"/>
            <a:ext cx="713232" cy="713232"/>
          </a:xfrm>
          <a:prstGeom prst="ellipse">
            <a:avLst/>
          </a:prstGeom>
          <a:solidFill>
            <a:srgbClr val="1B3B6F"/>
          </a:solidFill>
          <a:ln/>
        </p:spPr>
      </p:sp>
      <p:pic>
        <p:nvPicPr>
          <p:cNvPr id="24" name="Image 4" descr="/home/claude/autoease/icons/check_FF7A00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619488" y="3456432"/>
            <a:ext cx="384048" cy="384048"/>
          </a:xfrm>
          <a:prstGeom prst="rect">
            <a:avLst/>
          </a:prstGeom>
        </p:spPr>
      </p:pic>
      <p:sp>
        <p:nvSpPr>
          <p:cNvPr id="25" name="Text 18"/>
          <p:cNvSpPr txBox="1"/>
          <p:nvPr/>
        </p:nvSpPr>
        <p:spPr>
          <a:xfrm>
            <a:off x="8842248" y="4114800"/>
            <a:ext cx="1947672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ts val="1300"/>
              </a:lnSpc>
              <a:buNone/>
            </a:pPr>
            <a:r>
              <a:rPr lang="en-US" sz="1050" dirty="0">
                <a:solidFill>
                  <a:srgbClr val="D9E4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Job done, paid</a:t>
            </a:r>
            <a:endParaRPr lang="en-US" sz="1050" dirty="0"/>
          </a:p>
          <a:p>
            <a:pPr algn="ctr" indent="0" marL="0">
              <a:lnSpc>
                <a:spcPts val="1300"/>
              </a:lnSpc>
              <a:buNone/>
            </a:pPr>
            <a:r>
              <a:rPr lang="en-US" sz="1050" dirty="0">
                <a:solidFill>
                  <a:srgbClr val="D9E4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digitally in-app</a:t>
            </a:r>
            <a:endParaRPr lang="en-US" sz="1050" dirty="0"/>
          </a:p>
        </p:txBody>
      </p:sp>
      <p:sp>
        <p:nvSpPr>
          <p:cNvPr id="26" name="Shape 19"/>
          <p:cNvSpPr/>
          <p:nvPr/>
        </p:nvSpPr>
        <p:spPr>
          <a:xfrm>
            <a:off x="0" y="5303520"/>
            <a:ext cx="12191695" cy="1417320"/>
          </a:xfrm>
          <a:prstGeom prst="rect">
            <a:avLst/>
          </a:prstGeom>
          <a:solidFill>
            <a:srgbClr val="0A1A30"/>
          </a:solidFill>
          <a:ln/>
        </p:spPr>
      </p:sp>
      <p:sp>
        <p:nvSpPr>
          <p:cNvPr id="27" name="Text 20"/>
          <p:cNvSpPr txBox="1"/>
          <p:nvPr/>
        </p:nvSpPr>
        <p:spPr>
          <a:xfrm>
            <a:off x="0" y="5486400"/>
            <a:ext cx="4063898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FF7A0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₹45 Lakh</a:t>
            </a:r>
            <a:endParaRPr lang="en-US" sz="3000" dirty="0"/>
          </a:p>
        </p:txBody>
      </p:sp>
      <p:sp>
        <p:nvSpPr>
          <p:cNvPr id="28" name="Text 21"/>
          <p:cNvSpPr txBox="1"/>
          <p:nvPr/>
        </p:nvSpPr>
        <p:spPr>
          <a:xfrm>
            <a:off x="274320" y="6062472"/>
            <a:ext cx="3515258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C7D4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Seed funding ask</a:t>
            </a:r>
            <a:endParaRPr lang="en-US" sz="1150" dirty="0"/>
          </a:p>
        </p:txBody>
      </p:sp>
      <p:sp>
        <p:nvSpPr>
          <p:cNvPr id="29" name="Text 22"/>
          <p:cNvSpPr txBox="1"/>
          <p:nvPr/>
        </p:nvSpPr>
        <p:spPr>
          <a:xfrm>
            <a:off x="4063898" y="5486400"/>
            <a:ext cx="4063898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FF7A0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12 Months</a:t>
            </a:r>
            <a:endParaRPr lang="en-US" sz="3000" dirty="0"/>
          </a:p>
        </p:txBody>
      </p:sp>
      <p:sp>
        <p:nvSpPr>
          <p:cNvPr id="30" name="Text 23"/>
          <p:cNvSpPr txBox="1"/>
          <p:nvPr/>
        </p:nvSpPr>
        <p:spPr>
          <a:xfrm>
            <a:off x="4338218" y="6062472"/>
            <a:ext cx="3515258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C7D4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Noida pilot to prove unit economics</a:t>
            </a:r>
            <a:endParaRPr lang="en-US" sz="1150" dirty="0"/>
          </a:p>
        </p:txBody>
      </p:sp>
      <p:sp>
        <p:nvSpPr>
          <p:cNvPr id="31" name="Shape 24"/>
          <p:cNvSpPr/>
          <p:nvPr/>
        </p:nvSpPr>
        <p:spPr>
          <a:xfrm>
            <a:off x="4063898" y="5532120"/>
            <a:ext cx="0" cy="960120"/>
          </a:xfrm>
          <a:prstGeom prst="line">
            <a:avLst/>
          </a:prstGeom>
          <a:noFill/>
          <a:ln w="12700">
            <a:solidFill>
              <a:srgbClr val="27395C"/>
            </a:solidFill>
            <a:prstDash val="solid"/>
          </a:ln>
        </p:spPr>
      </p:sp>
      <p:sp>
        <p:nvSpPr>
          <p:cNvPr id="32" name="Text 25"/>
          <p:cNvSpPr txBox="1"/>
          <p:nvPr/>
        </p:nvSpPr>
        <p:spPr>
          <a:xfrm>
            <a:off x="8127797" y="5486400"/>
            <a:ext cx="4063898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FF7A0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~50 / 72</a:t>
            </a:r>
            <a:endParaRPr lang="en-US" sz="3000" dirty="0"/>
          </a:p>
        </p:txBody>
      </p:sp>
      <p:sp>
        <p:nvSpPr>
          <p:cNvPr id="33" name="Text 26"/>
          <p:cNvSpPr txBox="1"/>
          <p:nvPr/>
        </p:nvSpPr>
        <p:spPr>
          <a:xfrm>
            <a:off x="8402117" y="6062472"/>
            <a:ext cx="3515258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C7D4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Break-even vs. target customers per society</a:t>
            </a:r>
            <a:endParaRPr lang="en-US" sz="1150" dirty="0"/>
          </a:p>
        </p:txBody>
      </p:sp>
      <p:sp>
        <p:nvSpPr>
          <p:cNvPr id="34" name="Shape 27"/>
          <p:cNvSpPr/>
          <p:nvPr/>
        </p:nvSpPr>
        <p:spPr>
          <a:xfrm>
            <a:off x="8127797" y="5532120"/>
            <a:ext cx="0" cy="960120"/>
          </a:xfrm>
          <a:prstGeom prst="line">
            <a:avLst/>
          </a:prstGeom>
          <a:noFill/>
          <a:ln w="12700">
            <a:solidFill>
              <a:srgbClr val="27395C"/>
            </a:solidFill>
            <a:prstDash val="solid"/>
          </a:ln>
        </p:spPr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7F8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02920" y="320040"/>
            <a:ext cx="91440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B1F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How AutoEase Makes Money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502920" y="804672"/>
            <a:ext cx="111556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5B6B7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Recurring AMC subscriptions anchor the society; on-demand emergency &amp; specialised services add commission revenue on top.</a:t>
            </a:r>
            <a:endParaRPr lang="en-US" sz="1250" dirty="0"/>
          </a:p>
        </p:txBody>
      </p:sp>
      <p:sp>
        <p:nvSpPr>
          <p:cNvPr id="4" name="Shape 2"/>
          <p:cNvSpPr/>
          <p:nvPr/>
        </p:nvSpPr>
        <p:spPr>
          <a:xfrm>
            <a:off x="502920" y="1298448"/>
            <a:ext cx="2048256" cy="1207008"/>
          </a:xfrm>
          <a:prstGeom prst="roundRect">
            <a:avLst>
              <a:gd name="adj" fmla="val 6061"/>
            </a:avLst>
          </a:prstGeom>
          <a:solidFill>
            <a:srgbClr val="FFFFFF"/>
          </a:solidFill>
          <a:ln w="12700">
            <a:solidFill>
              <a:srgbClr val="E3E7EE"/>
            </a:solidFill>
            <a:prstDash val="solid"/>
          </a:ln>
          <a:effectLst>
            <a:outerShdw sx="100000" sy="100000" kx="0" ky="0" algn="bl" rotWithShape="0" blurRad="76200" dist="25400" dir="5400000">
              <a:srgbClr val="9AA7B8">
                <a:alpha val="25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649224" y="1444752"/>
            <a:ext cx="457200" cy="457200"/>
          </a:xfrm>
          <a:prstGeom prst="ellipse">
            <a:avLst/>
          </a:prstGeom>
          <a:solidFill>
            <a:srgbClr val="1B3B6F"/>
          </a:solidFill>
          <a:ln/>
        </p:spPr>
      </p:sp>
      <p:pic>
        <p:nvPicPr>
          <p:cNvPr id="6" name="Image 0" descr="/home/claude/autoease/icons/rupee_FFFFFF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49808" y="1545336"/>
            <a:ext cx="256032" cy="256032"/>
          </a:xfrm>
          <a:prstGeom prst="rect">
            <a:avLst/>
          </a:prstGeom>
        </p:spPr>
      </p:pic>
      <p:sp>
        <p:nvSpPr>
          <p:cNvPr id="7" name="Text 4"/>
          <p:cNvSpPr txBox="1"/>
          <p:nvPr/>
        </p:nvSpPr>
        <p:spPr>
          <a:xfrm>
            <a:off x="630936" y="1956816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AMC Subscription</a:t>
            </a:r>
            <a:endParaRPr lang="en-US" sz="1200" dirty="0"/>
          </a:p>
        </p:txBody>
      </p:sp>
      <p:sp>
        <p:nvSpPr>
          <p:cNvPr id="8" name="Text 5"/>
          <p:cNvSpPr txBox="1"/>
          <p:nvPr/>
        </p:nvSpPr>
        <p:spPr>
          <a:xfrm>
            <a:off x="630936" y="2231136"/>
            <a:ext cx="1828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100"/>
              </a:lnSpc>
              <a:buNone/>
            </a:pPr>
            <a:r>
              <a:rPr lang="en-US" sz="950" dirty="0">
                <a:solidFill>
                  <a:srgbClr val="5B6B7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₹799/month per customer</a:t>
            </a:r>
            <a:endParaRPr lang="en-US" sz="950" dirty="0"/>
          </a:p>
        </p:txBody>
      </p:sp>
      <p:sp>
        <p:nvSpPr>
          <p:cNvPr id="9" name="Shape 6"/>
          <p:cNvSpPr/>
          <p:nvPr/>
        </p:nvSpPr>
        <p:spPr>
          <a:xfrm>
            <a:off x="2715768" y="1298448"/>
            <a:ext cx="2048256" cy="1207008"/>
          </a:xfrm>
          <a:prstGeom prst="roundRect">
            <a:avLst>
              <a:gd name="adj" fmla="val 6061"/>
            </a:avLst>
          </a:prstGeom>
          <a:solidFill>
            <a:srgbClr val="FFFFFF"/>
          </a:solidFill>
          <a:ln w="12700">
            <a:solidFill>
              <a:srgbClr val="E3E7EE"/>
            </a:solidFill>
            <a:prstDash val="solid"/>
          </a:ln>
          <a:effectLst>
            <a:outerShdw sx="100000" sy="100000" kx="0" ky="0" algn="bl" rotWithShape="0" blurRad="76200" dist="25400" dir="5400000">
              <a:srgbClr val="9AA7B8">
                <a:alpha val="25000"/>
              </a:srgbClr>
            </a:outerShdw>
          </a:effectLst>
        </p:spPr>
      </p:sp>
      <p:sp>
        <p:nvSpPr>
          <p:cNvPr id="10" name="Shape 7"/>
          <p:cNvSpPr/>
          <p:nvPr/>
        </p:nvSpPr>
        <p:spPr>
          <a:xfrm>
            <a:off x="2862072" y="1444752"/>
            <a:ext cx="457200" cy="457200"/>
          </a:xfrm>
          <a:prstGeom prst="ellipse">
            <a:avLst/>
          </a:prstGeom>
          <a:solidFill>
            <a:srgbClr val="1B3B6F"/>
          </a:solidFill>
          <a:ln/>
        </p:spPr>
      </p:sp>
      <p:pic>
        <p:nvPicPr>
          <p:cNvPr id="11" name="Image 1" descr="/home/claude/autoease/icons/users_FFFFFF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962656" y="1545336"/>
            <a:ext cx="256032" cy="256032"/>
          </a:xfrm>
          <a:prstGeom prst="rect">
            <a:avLst/>
          </a:prstGeom>
        </p:spPr>
      </p:pic>
      <p:sp>
        <p:nvSpPr>
          <p:cNvPr id="12" name="Text 8"/>
          <p:cNvSpPr txBox="1"/>
          <p:nvPr/>
        </p:nvSpPr>
        <p:spPr>
          <a:xfrm>
            <a:off x="2843784" y="1956816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Dedicated Cleaners</a:t>
            </a:r>
            <a:endParaRPr lang="en-US" sz="1200" dirty="0"/>
          </a:p>
        </p:txBody>
      </p:sp>
      <p:sp>
        <p:nvSpPr>
          <p:cNvPr id="13" name="Text 9"/>
          <p:cNvSpPr txBox="1"/>
          <p:nvPr/>
        </p:nvSpPr>
        <p:spPr>
          <a:xfrm>
            <a:off x="2843784" y="2231136"/>
            <a:ext cx="1828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100"/>
              </a:lnSpc>
              <a:buNone/>
            </a:pPr>
            <a:r>
              <a:rPr lang="en-US" sz="950" dirty="0">
                <a:solidFill>
                  <a:srgbClr val="5B6B7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per society, employed by AutoEase</a:t>
            </a:r>
            <a:endParaRPr lang="en-US" sz="950" dirty="0"/>
          </a:p>
        </p:txBody>
      </p:sp>
      <p:sp>
        <p:nvSpPr>
          <p:cNvPr id="14" name="Shape 10"/>
          <p:cNvSpPr/>
          <p:nvPr/>
        </p:nvSpPr>
        <p:spPr>
          <a:xfrm>
            <a:off x="4928616" y="1298448"/>
            <a:ext cx="2048256" cy="1207008"/>
          </a:xfrm>
          <a:prstGeom prst="roundRect">
            <a:avLst>
              <a:gd name="adj" fmla="val 6061"/>
            </a:avLst>
          </a:prstGeom>
          <a:solidFill>
            <a:srgbClr val="FFFFFF"/>
          </a:solidFill>
          <a:ln w="12700">
            <a:solidFill>
              <a:srgbClr val="E3E7EE"/>
            </a:solidFill>
            <a:prstDash val="solid"/>
          </a:ln>
          <a:effectLst>
            <a:outerShdw sx="100000" sy="100000" kx="0" ky="0" algn="bl" rotWithShape="0" blurRad="76200" dist="25400" dir="5400000">
              <a:srgbClr val="9AA7B8">
                <a:alpha val="25000"/>
              </a:srgbClr>
            </a:outerShdw>
          </a:effectLst>
        </p:spPr>
      </p:sp>
      <p:sp>
        <p:nvSpPr>
          <p:cNvPr id="15" name="Shape 11"/>
          <p:cNvSpPr/>
          <p:nvPr/>
        </p:nvSpPr>
        <p:spPr>
          <a:xfrm>
            <a:off x="5074920" y="1444752"/>
            <a:ext cx="457200" cy="457200"/>
          </a:xfrm>
          <a:prstGeom prst="ellipse">
            <a:avLst/>
          </a:prstGeom>
          <a:solidFill>
            <a:srgbClr val="1B3B6F"/>
          </a:solidFill>
          <a:ln/>
        </p:spPr>
      </p:sp>
      <p:pic>
        <p:nvPicPr>
          <p:cNvPr id="16" name="Image 2" descr="/home/claude/autoease/icons/alert_FFFFFF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175504" y="1545336"/>
            <a:ext cx="256032" cy="256032"/>
          </a:xfrm>
          <a:prstGeom prst="rect">
            <a:avLst/>
          </a:prstGeom>
        </p:spPr>
      </p:pic>
      <p:sp>
        <p:nvSpPr>
          <p:cNvPr id="17" name="Text 12"/>
          <p:cNvSpPr txBox="1"/>
          <p:nvPr/>
        </p:nvSpPr>
        <p:spPr>
          <a:xfrm>
            <a:off x="5056632" y="1956816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Emergency Booking</a:t>
            </a:r>
            <a:endParaRPr lang="en-US" sz="1200" dirty="0"/>
          </a:p>
        </p:txBody>
      </p:sp>
      <p:sp>
        <p:nvSpPr>
          <p:cNvPr id="18" name="Text 13"/>
          <p:cNvSpPr txBox="1"/>
          <p:nvPr/>
        </p:nvSpPr>
        <p:spPr>
          <a:xfrm>
            <a:off x="5056632" y="2231136"/>
            <a:ext cx="1828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100"/>
              </a:lnSpc>
              <a:buNone/>
            </a:pPr>
            <a:r>
              <a:rPr lang="en-US" sz="950" dirty="0">
                <a:solidFill>
                  <a:srgbClr val="5B6B7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Customer requests via app</a:t>
            </a:r>
            <a:endParaRPr lang="en-US" sz="950" dirty="0"/>
          </a:p>
        </p:txBody>
      </p:sp>
      <p:sp>
        <p:nvSpPr>
          <p:cNvPr id="19" name="Shape 14"/>
          <p:cNvSpPr/>
          <p:nvPr/>
        </p:nvSpPr>
        <p:spPr>
          <a:xfrm>
            <a:off x="7141464" y="1298448"/>
            <a:ext cx="2048256" cy="1207008"/>
          </a:xfrm>
          <a:prstGeom prst="roundRect">
            <a:avLst>
              <a:gd name="adj" fmla="val 6061"/>
            </a:avLst>
          </a:prstGeom>
          <a:solidFill>
            <a:srgbClr val="FFFFFF"/>
          </a:solidFill>
          <a:ln w="12700">
            <a:solidFill>
              <a:srgbClr val="E3E7EE"/>
            </a:solidFill>
            <a:prstDash val="solid"/>
          </a:ln>
          <a:effectLst>
            <a:outerShdw sx="100000" sy="100000" kx="0" ky="0" algn="bl" rotWithShape="0" blurRad="76200" dist="25400" dir="5400000">
              <a:srgbClr val="9AA7B8">
                <a:alpha val="25000"/>
              </a:srgbClr>
            </a:outerShdw>
          </a:effectLst>
        </p:spPr>
      </p:sp>
      <p:sp>
        <p:nvSpPr>
          <p:cNvPr id="20" name="Shape 15"/>
          <p:cNvSpPr/>
          <p:nvPr/>
        </p:nvSpPr>
        <p:spPr>
          <a:xfrm>
            <a:off x="7287768" y="1444752"/>
            <a:ext cx="457200" cy="457200"/>
          </a:xfrm>
          <a:prstGeom prst="ellipse">
            <a:avLst/>
          </a:prstGeom>
          <a:solidFill>
            <a:srgbClr val="1B3B6F"/>
          </a:solidFill>
          <a:ln/>
        </p:spPr>
      </p:sp>
      <p:pic>
        <p:nvPicPr>
          <p:cNvPr id="21" name="Image 3" descr="/home/claude/autoease/icons/handshake_FFFFFF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388352" y="1545336"/>
            <a:ext cx="256032" cy="256032"/>
          </a:xfrm>
          <a:prstGeom prst="rect">
            <a:avLst/>
          </a:prstGeom>
        </p:spPr>
      </p:pic>
      <p:sp>
        <p:nvSpPr>
          <p:cNvPr id="22" name="Text 16"/>
          <p:cNvSpPr txBox="1"/>
          <p:nvPr/>
        </p:nvSpPr>
        <p:spPr>
          <a:xfrm>
            <a:off x="7269480" y="1956816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Verified Partners</a:t>
            </a:r>
            <a:endParaRPr lang="en-US" sz="1200" dirty="0"/>
          </a:p>
        </p:txBody>
      </p:sp>
      <p:sp>
        <p:nvSpPr>
          <p:cNvPr id="23" name="Text 17"/>
          <p:cNvSpPr txBox="1"/>
          <p:nvPr/>
        </p:nvSpPr>
        <p:spPr>
          <a:xfrm>
            <a:off x="7269480" y="2231136"/>
            <a:ext cx="1828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100"/>
              </a:lnSpc>
              <a:buNone/>
            </a:pPr>
            <a:r>
              <a:rPr lang="en-US" sz="950" dirty="0">
                <a:solidFill>
                  <a:srgbClr val="5B6B7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AutoEase earns a commission fee</a:t>
            </a:r>
            <a:endParaRPr lang="en-US" sz="950" dirty="0"/>
          </a:p>
        </p:txBody>
      </p:sp>
      <p:sp>
        <p:nvSpPr>
          <p:cNvPr id="24" name="Shape 18"/>
          <p:cNvSpPr/>
          <p:nvPr/>
        </p:nvSpPr>
        <p:spPr>
          <a:xfrm>
            <a:off x="9354312" y="1298448"/>
            <a:ext cx="2048256" cy="1207008"/>
          </a:xfrm>
          <a:prstGeom prst="roundRect">
            <a:avLst>
              <a:gd name="adj" fmla="val 6061"/>
            </a:avLst>
          </a:prstGeom>
          <a:solidFill>
            <a:srgbClr val="FFFFFF"/>
          </a:solidFill>
          <a:ln w="12700">
            <a:solidFill>
              <a:srgbClr val="E3E7EE"/>
            </a:solidFill>
            <a:prstDash val="solid"/>
          </a:ln>
          <a:effectLst>
            <a:outerShdw sx="100000" sy="100000" kx="0" ky="0" algn="bl" rotWithShape="0" blurRad="76200" dist="25400" dir="5400000">
              <a:srgbClr val="9AA7B8">
                <a:alpha val="25000"/>
              </a:srgbClr>
            </a:outerShdw>
          </a:effectLst>
        </p:spPr>
      </p:sp>
      <p:sp>
        <p:nvSpPr>
          <p:cNvPr id="25" name="Shape 19"/>
          <p:cNvSpPr/>
          <p:nvPr/>
        </p:nvSpPr>
        <p:spPr>
          <a:xfrm>
            <a:off x="9500616" y="1444752"/>
            <a:ext cx="457200" cy="457200"/>
          </a:xfrm>
          <a:prstGeom prst="ellipse">
            <a:avLst/>
          </a:prstGeom>
          <a:solidFill>
            <a:srgbClr val="1B3B6F"/>
          </a:solidFill>
          <a:ln/>
        </p:spPr>
      </p:sp>
      <p:pic>
        <p:nvPicPr>
          <p:cNvPr id="26" name="Image 4" descr="/home/claude/autoease/icons/trend_FFFFFF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601200" y="1545336"/>
            <a:ext cx="256032" cy="256032"/>
          </a:xfrm>
          <a:prstGeom prst="rect">
            <a:avLst/>
          </a:prstGeom>
        </p:spPr>
      </p:pic>
      <p:sp>
        <p:nvSpPr>
          <p:cNvPr id="27" name="Text 20"/>
          <p:cNvSpPr txBox="1"/>
          <p:nvPr/>
        </p:nvSpPr>
        <p:spPr>
          <a:xfrm>
            <a:off x="9482328" y="1956816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Cross-sell Later</a:t>
            </a:r>
            <a:endParaRPr lang="en-US" sz="1200" dirty="0"/>
          </a:p>
        </p:txBody>
      </p:sp>
      <p:sp>
        <p:nvSpPr>
          <p:cNvPr id="28" name="Text 21"/>
          <p:cNvSpPr txBox="1"/>
          <p:nvPr/>
        </p:nvSpPr>
        <p:spPr>
          <a:xfrm>
            <a:off x="9482328" y="2231136"/>
            <a:ext cx="1828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100"/>
              </a:lnSpc>
              <a:buNone/>
            </a:pPr>
            <a:r>
              <a:rPr lang="en-US" sz="950" dirty="0">
                <a:solidFill>
                  <a:srgbClr val="5B6B7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Tyres, battery, towing, AC, fleet</a:t>
            </a:r>
            <a:endParaRPr lang="en-US" sz="950" dirty="0"/>
          </a:p>
        </p:txBody>
      </p:sp>
      <p:sp>
        <p:nvSpPr>
          <p:cNvPr id="29" name="Text 22"/>
          <p:cNvSpPr txBox="1"/>
          <p:nvPr/>
        </p:nvSpPr>
        <p:spPr>
          <a:xfrm>
            <a:off x="502920" y="2788920"/>
            <a:ext cx="64008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Society-Level Economics (monthly, per society)</a:t>
            </a:r>
            <a:endParaRPr lang="en-US" sz="1350" dirty="0"/>
          </a:p>
        </p:txBody>
      </p:sp>
      <p:graphicFrame>
        <p:nvGraphicFramePr>
          <p:cNvPr id="30" name="Chart 0" descr=""/>
          <p:cNvGraphicFramePr/>
          <p:nvPr/>
        </p:nvGraphicFramePr>
        <p:xfrm>
          <a:off x="457200" y="3108960"/>
          <a:ext cx="6492240" cy="288036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6"/>
          </a:graphicData>
        </a:graphic>
      </p:graphicFrame>
      <p:sp>
        <p:nvSpPr>
          <p:cNvPr id="31" name="Text 23"/>
          <p:cNvSpPr txBox="1"/>
          <p:nvPr/>
        </p:nvSpPr>
        <p:spPr>
          <a:xfrm>
            <a:off x="502920" y="5989320"/>
            <a:ext cx="6400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5B6B7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Break-even ≈ 50 customers · full target capacity = 72 (2 cleaners × 36 cars/day, 6.67 min/car — pilot assumption)</a:t>
            </a:r>
            <a:endParaRPr lang="en-US" sz="950" dirty="0"/>
          </a:p>
        </p:txBody>
      </p:sp>
      <p:sp>
        <p:nvSpPr>
          <p:cNvPr id="32" name="Text 24"/>
          <p:cNvSpPr txBox="1"/>
          <p:nvPr/>
        </p:nvSpPr>
        <p:spPr>
          <a:xfrm>
            <a:off x="7315200" y="2788920"/>
            <a:ext cx="43891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Customer Unit Economics</a:t>
            </a:r>
            <a:endParaRPr lang="en-US" sz="1350" dirty="0"/>
          </a:p>
        </p:txBody>
      </p:sp>
      <p:sp>
        <p:nvSpPr>
          <p:cNvPr id="33" name="Shape 25"/>
          <p:cNvSpPr/>
          <p:nvPr/>
        </p:nvSpPr>
        <p:spPr>
          <a:xfrm>
            <a:off x="7315200" y="3127248"/>
            <a:ext cx="2148840" cy="1298448"/>
          </a:xfrm>
          <a:prstGeom prst="roundRect">
            <a:avLst>
              <a:gd name="adj" fmla="val 4225"/>
            </a:avLst>
          </a:prstGeom>
          <a:solidFill>
            <a:srgbClr val="0B1F3A"/>
          </a:solidFill>
          <a:ln/>
        </p:spPr>
      </p:sp>
      <p:sp>
        <p:nvSpPr>
          <p:cNvPr id="34" name="Text 26"/>
          <p:cNvSpPr txBox="1"/>
          <p:nvPr/>
        </p:nvSpPr>
        <p:spPr>
          <a:xfrm>
            <a:off x="7443216" y="3310128"/>
            <a:ext cx="189280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300" b="1" dirty="0">
                <a:solidFill>
                  <a:srgbClr val="FF7A0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₹1,000</a:t>
            </a:r>
            <a:endParaRPr lang="en-US" sz="2300" dirty="0"/>
          </a:p>
        </p:txBody>
      </p:sp>
      <p:sp>
        <p:nvSpPr>
          <p:cNvPr id="35" name="Text 27"/>
          <p:cNvSpPr txBox="1"/>
          <p:nvPr/>
        </p:nvSpPr>
        <p:spPr>
          <a:xfrm>
            <a:off x="7443216" y="3877056"/>
            <a:ext cx="189280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100"/>
              </a:lnSpc>
              <a:buNone/>
            </a:pPr>
            <a:r>
              <a:rPr lang="en-US" sz="950" dirty="0">
                <a:solidFill>
                  <a:srgbClr val="D9E4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CAC (assumption)</a:t>
            </a:r>
            <a:endParaRPr lang="en-US" sz="950" dirty="0"/>
          </a:p>
        </p:txBody>
      </p:sp>
      <p:sp>
        <p:nvSpPr>
          <p:cNvPr id="36" name="Shape 28"/>
          <p:cNvSpPr/>
          <p:nvPr/>
        </p:nvSpPr>
        <p:spPr>
          <a:xfrm>
            <a:off x="9555480" y="3127248"/>
            <a:ext cx="2148840" cy="1298448"/>
          </a:xfrm>
          <a:prstGeom prst="roundRect">
            <a:avLst>
              <a:gd name="adj" fmla="val 4225"/>
            </a:avLst>
          </a:prstGeom>
          <a:solidFill>
            <a:srgbClr val="0B1F3A"/>
          </a:solidFill>
          <a:ln/>
        </p:spPr>
      </p:sp>
      <p:sp>
        <p:nvSpPr>
          <p:cNvPr id="37" name="Text 29"/>
          <p:cNvSpPr txBox="1"/>
          <p:nvPr/>
        </p:nvSpPr>
        <p:spPr>
          <a:xfrm>
            <a:off x="9683496" y="3310128"/>
            <a:ext cx="189280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300" b="1" dirty="0">
                <a:solidFill>
                  <a:srgbClr val="FF7A0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₹737</a:t>
            </a:r>
            <a:endParaRPr lang="en-US" sz="2300" dirty="0"/>
          </a:p>
        </p:txBody>
      </p:sp>
      <p:sp>
        <p:nvSpPr>
          <p:cNvPr id="38" name="Text 30"/>
          <p:cNvSpPr txBox="1"/>
          <p:nvPr/>
        </p:nvSpPr>
        <p:spPr>
          <a:xfrm>
            <a:off x="9683496" y="3877056"/>
            <a:ext cx="189280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100"/>
              </a:lnSpc>
              <a:buNone/>
            </a:pPr>
            <a:r>
              <a:rPr lang="en-US" sz="950" dirty="0">
                <a:solidFill>
                  <a:srgbClr val="D9E4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Monthly contribution / customer</a:t>
            </a:r>
            <a:endParaRPr lang="en-US" sz="950" dirty="0"/>
          </a:p>
        </p:txBody>
      </p:sp>
      <p:sp>
        <p:nvSpPr>
          <p:cNvPr id="39" name="Shape 31"/>
          <p:cNvSpPr/>
          <p:nvPr/>
        </p:nvSpPr>
        <p:spPr>
          <a:xfrm>
            <a:off x="7315200" y="4535424"/>
            <a:ext cx="2148840" cy="1298448"/>
          </a:xfrm>
          <a:prstGeom prst="roundRect">
            <a:avLst>
              <a:gd name="adj" fmla="val 4225"/>
            </a:avLst>
          </a:prstGeom>
          <a:solidFill>
            <a:srgbClr val="0B1F3A"/>
          </a:solidFill>
          <a:ln/>
        </p:spPr>
      </p:sp>
      <p:sp>
        <p:nvSpPr>
          <p:cNvPr id="40" name="Text 32"/>
          <p:cNvSpPr txBox="1"/>
          <p:nvPr/>
        </p:nvSpPr>
        <p:spPr>
          <a:xfrm>
            <a:off x="7443216" y="4718304"/>
            <a:ext cx="189280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300" b="1" dirty="0">
                <a:solidFill>
                  <a:srgbClr val="FF7A0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1.4 mo</a:t>
            </a:r>
            <a:endParaRPr lang="en-US" sz="2300" dirty="0"/>
          </a:p>
        </p:txBody>
      </p:sp>
      <p:sp>
        <p:nvSpPr>
          <p:cNvPr id="41" name="Text 33"/>
          <p:cNvSpPr txBox="1"/>
          <p:nvPr/>
        </p:nvSpPr>
        <p:spPr>
          <a:xfrm>
            <a:off x="7443216" y="5285232"/>
            <a:ext cx="189280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100"/>
              </a:lnSpc>
              <a:buNone/>
            </a:pPr>
            <a:r>
              <a:rPr lang="en-US" sz="950" dirty="0">
                <a:solidFill>
                  <a:srgbClr val="D9E4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CAC payback period</a:t>
            </a:r>
            <a:endParaRPr lang="en-US" sz="950" dirty="0"/>
          </a:p>
        </p:txBody>
      </p:sp>
      <p:sp>
        <p:nvSpPr>
          <p:cNvPr id="42" name="Shape 34"/>
          <p:cNvSpPr/>
          <p:nvPr/>
        </p:nvSpPr>
        <p:spPr>
          <a:xfrm>
            <a:off x="9555480" y="4535424"/>
            <a:ext cx="2148840" cy="1298448"/>
          </a:xfrm>
          <a:prstGeom prst="roundRect">
            <a:avLst>
              <a:gd name="adj" fmla="val 4225"/>
            </a:avLst>
          </a:prstGeom>
          <a:solidFill>
            <a:srgbClr val="0B1F3A"/>
          </a:solidFill>
          <a:ln/>
        </p:spPr>
      </p:sp>
      <p:sp>
        <p:nvSpPr>
          <p:cNvPr id="43" name="Text 35"/>
          <p:cNvSpPr txBox="1"/>
          <p:nvPr/>
        </p:nvSpPr>
        <p:spPr>
          <a:xfrm>
            <a:off x="9683496" y="4718304"/>
            <a:ext cx="189280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300" b="1" dirty="0">
                <a:solidFill>
                  <a:srgbClr val="FF7A0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13.3x</a:t>
            </a:r>
            <a:endParaRPr lang="en-US" sz="2300" dirty="0"/>
          </a:p>
        </p:txBody>
      </p:sp>
      <p:sp>
        <p:nvSpPr>
          <p:cNvPr id="44" name="Text 36"/>
          <p:cNvSpPr txBox="1"/>
          <p:nvPr/>
        </p:nvSpPr>
        <p:spPr>
          <a:xfrm>
            <a:off x="9683496" y="5285232"/>
            <a:ext cx="189280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100"/>
              </a:lnSpc>
              <a:buNone/>
            </a:pPr>
            <a:r>
              <a:rPr lang="en-US" sz="950" dirty="0">
                <a:solidFill>
                  <a:srgbClr val="D9E4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LTV : CAC  (LTV ₹13,267 @ 18-mo retention)</a:t>
            </a:r>
            <a:endParaRPr lang="en-US" sz="950" dirty="0"/>
          </a:p>
        </p:txBody>
      </p:sp>
      <p:sp>
        <p:nvSpPr>
          <p:cNvPr id="45" name="Text 37"/>
          <p:cNvSpPr txBox="1"/>
          <p:nvPr/>
        </p:nvSpPr>
        <p:spPr>
          <a:xfrm>
            <a:off x="7315200" y="5806440"/>
            <a:ext cx="438912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100"/>
              </a:lnSpc>
              <a:buNone/>
            </a:pPr>
            <a:r>
              <a:rPr lang="en-US" sz="900" i="1" dirty="0">
                <a:solidFill>
                  <a:srgbClr val="5B6B7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AMC price ₹799/month · target capacity 72 customers/society · assumed retention 18 months. All CAC/LTV figures are assumptions to be validated by pilot data.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7F8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02920" y="320040"/>
            <a:ext cx="10515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B1F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Market Opportunity &amp; Competitive Position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502920" y="960120"/>
            <a:ext cx="4160520" cy="2788920"/>
          </a:xfrm>
          <a:prstGeom prst="roundRect">
            <a:avLst>
              <a:gd name="adj" fmla="val 1967"/>
            </a:avLst>
          </a:prstGeom>
          <a:solidFill>
            <a:srgbClr val="0B1F3A"/>
          </a:solidFill>
          <a:ln/>
        </p:spPr>
      </p:sp>
      <p:sp>
        <p:nvSpPr>
          <p:cNvPr id="4" name="Text 2"/>
          <p:cNvSpPr txBox="1"/>
          <p:nvPr/>
        </p:nvSpPr>
        <p:spPr>
          <a:xfrm>
            <a:off x="731520" y="1097280"/>
            <a:ext cx="3749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FF7A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MARKET SIZE (TAM)</a:t>
            </a:r>
            <a:endParaRPr lang="en-US" sz="1100" dirty="0"/>
          </a:p>
        </p:txBody>
      </p:sp>
      <p:sp>
        <p:nvSpPr>
          <p:cNvPr id="5" name="Text 3"/>
          <p:cNvSpPr txBox="1"/>
          <p:nvPr/>
        </p:nvSpPr>
        <p:spPr>
          <a:xfrm>
            <a:off x="731520" y="1371600"/>
            <a:ext cx="3749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~₹12,000 Cr</a:t>
            </a:r>
            <a:endParaRPr lang="en-US" sz="3000" dirty="0"/>
          </a:p>
        </p:txBody>
      </p:sp>
      <p:sp>
        <p:nvSpPr>
          <p:cNvPr id="6" name="Text 4"/>
          <p:cNvSpPr txBox="1"/>
          <p:nvPr/>
        </p:nvSpPr>
        <p:spPr>
          <a:xfrm>
            <a:off x="731520" y="1938528"/>
            <a:ext cx="37490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200"/>
              </a:lnSpc>
              <a:buNone/>
            </a:pPr>
            <a:r>
              <a:rPr lang="en-US" sz="1000" dirty="0">
                <a:solidFill>
                  <a:srgbClr val="C7D4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India car-wash &amp; doorstep car-service market by 2030 (US$1.44 Bn), growing at 8.5% CAGR¹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731520" y="2542032"/>
            <a:ext cx="3703320" cy="0"/>
          </a:xfrm>
          <a:prstGeom prst="line">
            <a:avLst/>
          </a:prstGeom>
          <a:noFill/>
          <a:ln w="12700">
            <a:solidFill>
              <a:srgbClr val="2C4468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731520" y="2633472"/>
            <a:ext cx="3749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50" kern="0" dirty="0">
                <a:solidFill>
                  <a:srgbClr val="FF7A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COMPANY YEAR-5 TARGET (SOM, bottom-up)</a:t>
            </a:r>
            <a:endParaRPr lang="en-US" sz="1100" dirty="0"/>
          </a:p>
        </p:txBody>
      </p:sp>
      <p:sp>
        <p:nvSpPr>
          <p:cNvPr id="9" name="Text 7"/>
          <p:cNvSpPr txBox="1"/>
          <p:nvPr/>
        </p:nvSpPr>
        <p:spPr>
          <a:xfrm>
            <a:off x="731520" y="2926080"/>
            <a:ext cx="37490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300"/>
              </a:lnSpc>
              <a:buNone/>
            </a:pPr>
            <a:r>
              <a:rPr lang="en-US" sz="11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125 societies · 8,500 AMC subscribers · ₹9.4 Cr annualised revenue</a:t>
            </a:r>
            <a:endParaRPr lang="en-US" sz="1150" dirty="0"/>
          </a:p>
        </p:txBody>
      </p:sp>
      <p:sp>
        <p:nvSpPr>
          <p:cNvPr id="10" name="Text 8"/>
          <p:cNvSpPr txBox="1"/>
          <p:nvPr/>
        </p:nvSpPr>
        <p:spPr>
          <a:xfrm>
            <a:off x="731520" y="3429000"/>
            <a:ext cx="3749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i="1" dirty="0">
                <a:solidFill>
                  <a:srgbClr val="8FA3C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 a market-research figure — AutoEase's own 5-year operating plan (see Financials).</a:t>
            </a:r>
            <a:endParaRPr lang="en-US" sz="850" dirty="0"/>
          </a:p>
        </p:txBody>
      </p:sp>
      <p:sp>
        <p:nvSpPr>
          <p:cNvPr id="11" name="Text 9"/>
          <p:cNvSpPr txBox="1"/>
          <p:nvPr/>
        </p:nvSpPr>
        <p:spPr>
          <a:xfrm>
            <a:off x="502920" y="3858768"/>
            <a:ext cx="41605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200"/>
              </a:lnSpc>
              <a:buNone/>
            </a:pPr>
            <a:r>
              <a:rPr lang="en-US" sz="1000" i="1" dirty="0">
                <a:solidFill>
                  <a:srgbClr val="5B6B7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Subscription car-wash demand in India is growing ~10.7% CAGR, outpacing one-off car-wash spend²</a:t>
            </a:r>
            <a:endParaRPr lang="en-US" sz="1000" dirty="0"/>
          </a:p>
        </p:txBody>
      </p:sp>
      <p:sp>
        <p:nvSpPr>
          <p:cNvPr id="12" name="Text 10"/>
          <p:cNvSpPr txBox="1"/>
          <p:nvPr/>
        </p:nvSpPr>
        <p:spPr>
          <a:xfrm>
            <a:off x="4892040" y="960120"/>
            <a:ext cx="67665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Competitive Landscape</a:t>
            </a:r>
            <a:endParaRPr lang="en-US" sz="1350" dirty="0"/>
          </a:p>
        </p:txBody>
      </p:sp>
      <p:sp>
        <p:nvSpPr>
          <p:cNvPr id="13" name="Shape 11"/>
          <p:cNvSpPr/>
          <p:nvPr/>
        </p:nvSpPr>
        <p:spPr>
          <a:xfrm>
            <a:off x="4892040" y="1298448"/>
            <a:ext cx="2331720" cy="365760"/>
          </a:xfrm>
          <a:prstGeom prst="rect">
            <a:avLst/>
          </a:prstGeom>
          <a:solidFill>
            <a:srgbClr val="0B1F3A"/>
          </a:solidFill>
          <a:ln w="9525">
            <a:solidFill>
              <a:srgbClr val="DCE3ED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4946904" y="1298448"/>
            <a:ext cx="222199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7223760" y="1298448"/>
            <a:ext cx="1051560" cy="365760"/>
          </a:xfrm>
          <a:prstGeom prst="rect">
            <a:avLst/>
          </a:prstGeom>
          <a:solidFill>
            <a:srgbClr val="0B1F3A"/>
          </a:solidFill>
          <a:ln w="9525">
            <a:solidFill>
              <a:srgbClr val="DCE3ED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7278624" y="1298448"/>
            <a:ext cx="94183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AutoEase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8275320" y="1298448"/>
            <a:ext cx="1051560" cy="365760"/>
          </a:xfrm>
          <a:prstGeom prst="rect">
            <a:avLst/>
          </a:prstGeom>
          <a:solidFill>
            <a:srgbClr val="0B1F3A"/>
          </a:solidFill>
          <a:ln w="9525">
            <a:solidFill>
              <a:srgbClr val="DCE3ED"/>
            </a:solidFill>
            <a:prstDash val="solid"/>
          </a:ln>
        </p:spPr>
      </p:sp>
      <p:sp>
        <p:nvSpPr>
          <p:cNvPr id="18" name="Text 16"/>
          <p:cNvSpPr txBox="1"/>
          <p:nvPr/>
        </p:nvSpPr>
        <p:spPr>
          <a:xfrm>
            <a:off x="8330184" y="1298448"/>
            <a:ext cx="94183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Park+³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9326880" y="1298448"/>
            <a:ext cx="1143000" cy="365760"/>
          </a:xfrm>
          <a:prstGeom prst="rect">
            <a:avLst/>
          </a:prstGeom>
          <a:solidFill>
            <a:srgbClr val="0B1F3A"/>
          </a:solidFill>
          <a:ln w="9525">
            <a:solidFill>
              <a:srgbClr val="DCE3ED"/>
            </a:solidFill>
            <a:prstDash val="solid"/>
          </a:ln>
        </p:spPr>
      </p:sp>
      <p:sp>
        <p:nvSpPr>
          <p:cNvPr id="20" name="Text 18"/>
          <p:cNvSpPr txBox="1"/>
          <p:nvPr/>
        </p:nvSpPr>
        <p:spPr>
          <a:xfrm>
            <a:off x="9381744" y="1298448"/>
            <a:ext cx="103327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GoMechanic⁴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10469880" y="1298448"/>
            <a:ext cx="1188720" cy="365760"/>
          </a:xfrm>
          <a:prstGeom prst="rect">
            <a:avLst/>
          </a:prstGeom>
          <a:solidFill>
            <a:srgbClr val="0B1F3A"/>
          </a:solidFill>
          <a:ln w="9525">
            <a:solidFill>
              <a:srgbClr val="DCE3ED"/>
            </a:solidFill>
            <a:prstDash val="solid"/>
          </a:ln>
        </p:spPr>
      </p:sp>
      <p:sp>
        <p:nvSpPr>
          <p:cNvPr id="22" name="Text 20"/>
          <p:cNvSpPr txBox="1"/>
          <p:nvPr/>
        </p:nvSpPr>
        <p:spPr>
          <a:xfrm>
            <a:off x="10524744" y="1298448"/>
            <a:ext cx="107899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Local cleaners</a:t>
            </a:r>
            <a:endParaRPr lang="en-US" sz="1000" dirty="0"/>
          </a:p>
        </p:txBody>
      </p:sp>
      <p:sp>
        <p:nvSpPr>
          <p:cNvPr id="23" name="Shape 21"/>
          <p:cNvSpPr/>
          <p:nvPr/>
        </p:nvSpPr>
        <p:spPr>
          <a:xfrm>
            <a:off x="4892040" y="1664208"/>
            <a:ext cx="2331720" cy="365760"/>
          </a:xfrm>
          <a:prstGeom prst="rect">
            <a:avLst/>
          </a:prstGeom>
          <a:solidFill>
            <a:srgbClr val="EEF2F8"/>
          </a:solidFill>
          <a:ln w="9525">
            <a:solidFill>
              <a:srgbClr val="DCE3ED"/>
            </a:solidFill>
            <a:prstDash val="solid"/>
          </a:ln>
        </p:spPr>
      </p:sp>
      <p:sp>
        <p:nvSpPr>
          <p:cNvPr id="24" name="Text 22"/>
          <p:cNvSpPr txBox="1"/>
          <p:nvPr/>
        </p:nvSpPr>
        <p:spPr>
          <a:xfrm>
            <a:off x="4946904" y="1664208"/>
            <a:ext cx="222199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b="1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Dedicated cleaning workforce</a:t>
            </a:r>
            <a:endParaRPr lang="en-US" sz="950" dirty="0"/>
          </a:p>
        </p:txBody>
      </p:sp>
      <p:sp>
        <p:nvSpPr>
          <p:cNvPr id="25" name="Shape 23"/>
          <p:cNvSpPr/>
          <p:nvPr/>
        </p:nvSpPr>
        <p:spPr>
          <a:xfrm>
            <a:off x="7223760" y="1664208"/>
            <a:ext cx="1051560" cy="365760"/>
          </a:xfrm>
          <a:prstGeom prst="rect">
            <a:avLst/>
          </a:prstGeom>
          <a:solidFill>
            <a:srgbClr val="EEF2F8"/>
          </a:solidFill>
          <a:ln w="9525">
            <a:solidFill>
              <a:srgbClr val="DCE3ED"/>
            </a:solidFill>
            <a:prstDash val="solid"/>
          </a:ln>
        </p:spPr>
      </p:sp>
      <p:sp>
        <p:nvSpPr>
          <p:cNvPr id="26" name="Text 24"/>
          <p:cNvSpPr txBox="1"/>
          <p:nvPr/>
        </p:nvSpPr>
        <p:spPr>
          <a:xfrm>
            <a:off x="7278624" y="1664208"/>
            <a:ext cx="94183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1F9D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Yes</a:t>
            </a:r>
            <a:endParaRPr lang="en-US" sz="950" dirty="0"/>
          </a:p>
        </p:txBody>
      </p:sp>
      <p:sp>
        <p:nvSpPr>
          <p:cNvPr id="27" name="Shape 25"/>
          <p:cNvSpPr/>
          <p:nvPr/>
        </p:nvSpPr>
        <p:spPr>
          <a:xfrm>
            <a:off x="8275320" y="1664208"/>
            <a:ext cx="1051560" cy="365760"/>
          </a:xfrm>
          <a:prstGeom prst="rect">
            <a:avLst/>
          </a:prstGeom>
          <a:solidFill>
            <a:srgbClr val="EEF2F8"/>
          </a:solidFill>
          <a:ln w="9525">
            <a:solidFill>
              <a:srgbClr val="DCE3ED"/>
            </a:solidFill>
            <a:prstDash val="solid"/>
          </a:ln>
        </p:spPr>
      </p:sp>
      <p:sp>
        <p:nvSpPr>
          <p:cNvPr id="28" name="Text 26"/>
          <p:cNvSpPr txBox="1"/>
          <p:nvPr/>
        </p:nvSpPr>
        <p:spPr>
          <a:xfrm>
            <a:off x="8330184" y="1664208"/>
            <a:ext cx="94183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</a:t>
            </a:r>
            <a:endParaRPr lang="en-US" sz="950" dirty="0"/>
          </a:p>
        </p:txBody>
      </p:sp>
      <p:sp>
        <p:nvSpPr>
          <p:cNvPr id="29" name="Shape 27"/>
          <p:cNvSpPr/>
          <p:nvPr/>
        </p:nvSpPr>
        <p:spPr>
          <a:xfrm>
            <a:off x="9326880" y="1664208"/>
            <a:ext cx="1143000" cy="365760"/>
          </a:xfrm>
          <a:prstGeom prst="rect">
            <a:avLst/>
          </a:prstGeom>
          <a:solidFill>
            <a:srgbClr val="EEF2F8"/>
          </a:solidFill>
          <a:ln w="9525">
            <a:solidFill>
              <a:srgbClr val="DCE3ED"/>
            </a:solidFill>
            <a:prstDash val="solid"/>
          </a:ln>
        </p:spPr>
      </p:sp>
      <p:sp>
        <p:nvSpPr>
          <p:cNvPr id="30" name="Text 28"/>
          <p:cNvSpPr txBox="1"/>
          <p:nvPr/>
        </p:nvSpPr>
        <p:spPr>
          <a:xfrm>
            <a:off x="9381744" y="1664208"/>
            <a:ext cx="103327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</a:t>
            </a:r>
            <a:endParaRPr lang="en-US" sz="950" dirty="0"/>
          </a:p>
        </p:txBody>
      </p:sp>
      <p:sp>
        <p:nvSpPr>
          <p:cNvPr id="31" name="Shape 29"/>
          <p:cNvSpPr/>
          <p:nvPr/>
        </p:nvSpPr>
        <p:spPr>
          <a:xfrm>
            <a:off x="10469880" y="1664208"/>
            <a:ext cx="1188720" cy="365760"/>
          </a:xfrm>
          <a:prstGeom prst="rect">
            <a:avLst/>
          </a:prstGeom>
          <a:solidFill>
            <a:srgbClr val="EEF2F8"/>
          </a:solidFill>
          <a:ln w="9525">
            <a:solidFill>
              <a:srgbClr val="DCE3ED"/>
            </a:solidFill>
            <a:prstDash val="solid"/>
          </a:ln>
        </p:spPr>
      </p:sp>
      <p:sp>
        <p:nvSpPr>
          <p:cNvPr id="32" name="Text 30"/>
          <p:cNvSpPr txBox="1"/>
          <p:nvPr/>
        </p:nvSpPr>
        <p:spPr>
          <a:xfrm>
            <a:off x="10524744" y="1664208"/>
            <a:ext cx="107899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Informal</a:t>
            </a:r>
            <a:endParaRPr lang="en-US" sz="950" dirty="0"/>
          </a:p>
        </p:txBody>
      </p:sp>
      <p:sp>
        <p:nvSpPr>
          <p:cNvPr id="33" name="Shape 31"/>
          <p:cNvSpPr/>
          <p:nvPr/>
        </p:nvSpPr>
        <p:spPr>
          <a:xfrm>
            <a:off x="4892040" y="2029968"/>
            <a:ext cx="2331720" cy="365760"/>
          </a:xfrm>
          <a:prstGeom prst="rect">
            <a:avLst/>
          </a:prstGeom>
          <a:solidFill>
            <a:srgbClr val="FFFFFF"/>
          </a:solidFill>
          <a:ln w="9525">
            <a:solidFill>
              <a:srgbClr val="DCE3ED"/>
            </a:solidFill>
            <a:prstDash val="solid"/>
          </a:ln>
        </p:spPr>
      </p:sp>
      <p:sp>
        <p:nvSpPr>
          <p:cNvPr id="34" name="Text 32"/>
          <p:cNvSpPr txBox="1"/>
          <p:nvPr/>
        </p:nvSpPr>
        <p:spPr>
          <a:xfrm>
            <a:off x="4946904" y="2029968"/>
            <a:ext cx="222199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b="1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Society-embedded model</a:t>
            </a:r>
            <a:endParaRPr lang="en-US" sz="950" dirty="0"/>
          </a:p>
        </p:txBody>
      </p:sp>
      <p:sp>
        <p:nvSpPr>
          <p:cNvPr id="35" name="Shape 33"/>
          <p:cNvSpPr/>
          <p:nvPr/>
        </p:nvSpPr>
        <p:spPr>
          <a:xfrm>
            <a:off x="7223760" y="2029968"/>
            <a:ext cx="1051560" cy="365760"/>
          </a:xfrm>
          <a:prstGeom prst="rect">
            <a:avLst/>
          </a:prstGeom>
          <a:solidFill>
            <a:srgbClr val="FFFFFF"/>
          </a:solidFill>
          <a:ln w="9525">
            <a:solidFill>
              <a:srgbClr val="DCE3ED"/>
            </a:solidFill>
            <a:prstDash val="solid"/>
          </a:ln>
        </p:spPr>
      </p:sp>
      <p:sp>
        <p:nvSpPr>
          <p:cNvPr id="36" name="Text 34"/>
          <p:cNvSpPr txBox="1"/>
          <p:nvPr/>
        </p:nvSpPr>
        <p:spPr>
          <a:xfrm>
            <a:off x="7278624" y="2029968"/>
            <a:ext cx="94183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1F9D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Yes</a:t>
            </a:r>
            <a:endParaRPr lang="en-US" sz="950" dirty="0"/>
          </a:p>
        </p:txBody>
      </p:sp>
      <p:sp>
        <p:nvSpPr>
          <p:cNvPr id="37" name="Shape 35"/>
          <p:cNvSpPr/>
          <p:nvPr/>
        </p:nvSpPr>
        <p:spPr>
          <a:xfrm>
            <a:off x="8275320" y="2029968"/>
            <a:ext cx="1051560" cy="365760"/>
          </a:xfrm>
          <a:prstGeom prst="rect">
            <a:avLst/>
          </a:prstGeom>
          <a:solidFill>
            <a:srgbClr val="FFFFFF"/>
          </a:solidFill>
          <a:ln w="9525">
            <a:solidFill>
              <a:srgbClr val="DCE3ED"/>
            </a:solidFill>
            <a:prstDash val="solid"/>
          </a:ln>
        </p:spPr>
      </p:sp>
      <p:sp>
        <p:nvSpPr>
          <p:cNvPr id="38" name="Text 36"/>
          <p:cNvSpPr txBox="1"/>
          <p:nvPr/>
        </p:nvSpPr>
        <p:spPr>
          <a:xfrm>
            <a:off x="8330184" y="2029968"/>
            <a:ext cx="94183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</a:t>
            </a:r>
            <a:endParaRPr lang="en-US" sz="950" dirty="0"/>
          </a:p>
        </p:txBody>
      </p:sp>
      <p:sp>
        <p:nvSpPr>
          <p:cNvPr id="39" name="Shape 37"/>
          <p:cNvSpPr/>
          <p:nvPr/>
        </p:nvSpPr>
        <p:spPr>
          <a:xfrm>
            <a:off x="9326880" y="2029968"/>
            <a:ext cx="1143000" cy="365760"/>
          </a:xfrm>
          <a:prstGeom prst="rect">
            <a:avLst/>
          </a:prstGeom>
          <a:solidFill>
            <a:srgbClr val="FFFFFF"/>
          </a:solidFill>
          <a:ln w="9525">
            <a:solidFill>
              <a:srgbClr val="DCE3ED"/>
            </a:solidFill>
            <a:prstDash val="solid"/>
          </a:ln>
        </p:spPr>
      </p:sp>
      <p:sp>
        <p:nvSpPr>
          <p:cNvPr id="40" name="Text 38"/>
          <p:cNvSpPr txBox="1"/>
          <p:nvPr/>
        </p:nvSpPr>
        <p:spPr>
          <a:xfrm>
            <a:off x="9381744" y="2029968"/>
            <a:ext cx="103327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</a:t>
            </a:r>
            <a:endParaRPr lang="en-US" sz="950" dirty="0"/>
          </a:p>
        </p:txBody>
      </p:sp>
      <p:sp>
        <p:nvSpPr>
          <p:cNvPr id="41" name="Shape 39"/>
          <p:cNvSpPr/>
          <p:nvPr/>
        </p:nvSpPr>
        <p:spPr>
          <a:xfrm>
            <a:off x="10469880" y="2029968"/>
            <a:ext cx="1188720" cy="365760"/>
          </a:xfrm>
          <a:prstGeom prst="rect">
            <a:avLst/>
          </a:prstGeom>
          <a:solidFill>
            <a:srgbClr val="FFFFFF"/>
          </a:solidFill>
          <a:ln w="9525">
            <a:solidFill>
              <a:srgbClr val="DCE3ED"/>
            </a:solidFill>
            <a:prstDash val="solid"/>
          </a:ln>
        </p:spPr>
      </p:sp>
      <p:sp>
        <p:nvSpPr>
          <p:cNvPr id="42" name="Text 40"/>
          <p:cNvSpPr txBox="1"/>
          <p:nvPr/>
        </p:nvSpPr>
        <p:spPr>
          <a:xfrm>
            <a:off x="10524744" y="2029968"/>
            <a:ext cx="107899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 hoc</a:t>
            </a:r>
            <a:endParaRPr lang="en-US" sz="950" dirty="0"/>
          </a:p>
        </p:txBody>
      </p:sp>
      <p:sp>
        <p:nvSpPr>
          <p:cNvPr id="43" name="Shape 41"/>
          <p:cNvSpPr/>
          <p:nvPr/>
        </p:nvSpPr>
        <p:spPr>
          <a:xfrm>
            <a:off x="4892040" y="2395728"/>
            <a:ext cx="2331720" cy="365760"/>
          </a:xfrm>
          <a:prstGeom prst="rect">
            <a:avLst/>
          </a:prstGeom>
          <a:solidFill>
            <a:srgbClr val="EEF2F8"/>
          </a:solidFill>
          <a:ln w="9525">
            <a:solidFill>
              <a:srgbClr val="DCE3ED"/>
            </a:solidFill>
            <a:prstDash val="solid"/>
          </a:ln>
        </p:spPr>
      </p:sp>
      <p:sp>
        <p:nvSpPr>
          <p:cNvPr id="44" name="Text 42"/>
          <p:cNvSpPr txBox="1"/>
          <p:nvPr/>
        </p:nvSpPr>
        <p:spPr>
          <a:xfrm>
            <a:off x="4946904" y="2395728"/>
            <a:ext cx="222199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b="1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Emergency / SOS in one app</a:t>
            </a:r>
            <a:endParaRPr lang="en-US" sz="950" dirty="0"/>
          </a:p>
        </p:txBody>
      </p:sp>
      <p:sp>
        <p:nvSpPr>
          <p:cNvPr id="45" name="Shape 43"/>
          <p:cNvSpPr/>
          <p:nvPr/>
        </p:nvSpPr>
        <p:spPr>
          <a:xfrm>
            <a:off x="7223760" y="2395728"/>
            <a:ext cx="1051560" cy="365760"/>
          </a:xfrm>
          <a:prstGeom prst="rect">
            <a:avLst/>
          </a:prstGeom>
          <a:solidFill>
            <a:srgbClr val="EEF2F8"/>
          </a:solidFill>
          <a:ln w="9525">
            <a:solidFill>
              <a:srgbClr val="DCE3ED"/>
            </a:solidFill>
            <a:prstDash val="solid"/>
          </a:ln>
        </p:spPr>
      </p:sp>
      <p:sp>
        <p:nvSpPr>
          <p:cNvPr id="46" name="Text 44"/>
          <p:cNvSpPr txBox="1"/>
          <p:nvPr/>
        </p:nvSpPr>
        <p:spPr>
          <a:xfrm>
            <a:off x="7278624" y="2395728"/>
            <a:ext cx="94183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1F9D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Yes</a:t>
            </a:r>
            <a:endParaRPr lang="en-US" sz="950" dirty="0"/>
          </a:p>
        </p:txBody>
      </p:sp>
      <p:sp>
        <p:nvSpPr>
          <p:cNvPr id="47" name="Shape 45"/>
          <p:cNvSpPr/>
          <p:nvPr/>
        </p:nvSpPr>
        <p:spPr>
          <a:xfrm>
            <a:off x="8275320" y="2395728"/>
            <a:ext cx="1051560" cy="365760"/>
          </a:xfrm>
          <a:prstGeom prst="rect">
            <a:avLst/>
          </a:prstGeom>
          <a:solidFill>
            <a:srgbClr val="EEF2F8"/>
          </a:solidFill>
          <a:ln w="9525">
            <a:solidFill>
              <a:srgbClr val="DCE3ED"/>
            </a:solidFill>
            <a:prstDash val="solid"/>
          </a:ln>
        </p:spPr>
      </p:sp>
      <p:sp>
        <p:nvSpPr>
          <p:cNvPr id="48" name="Text 46"/>
          <p:cNvSpPr txBox="1"/>
          <p:nvPr/>
        </p:nvSpPr>
        <p:spPr>
          <a:xfrm>
            <a:off x="8330184" y="2395728"/>
            <a:ext cx="94183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Partial</a:t>
            </a:r>
            <a:endParaRPr lang="en-US" sz="950" dirty="0"/>
          </a:p>
        </p:txBody>
      </p:sp>
      <p:sp>
        <p:nvSpPr>
          <p:cNvPr id="49" name="Shape 47"/>
          <p:cNvSpPr/>
          <p:nvPr/>
        </p:nvSpPr>
        <p:spPr>
          <a:xfrm>
            <a:off x="9326880" y="2395728"/>
            <a:ext cx="1143000" cy="365760"/>
          </a:xfrm>
          <a:prstGeom prst="rect">
            <a:avLst/>
          </a:prstGeom>
          <a:solidFill>
            <a:srgbClr val="EEF2F8"/>
          </a:solidFill>
          <a:ln w="9525">
            <a:solidFill>
              <a:srgbClr val="DCE3ED"/>
            </a:solidFill>
            <a:prstDash val="solid"/>
          </a:ln>
        </p:spPr>
      </p:sp>
      <p:sp>
        <p:nvSpPr>
          <p:cNvPr id="50" name="Text 48"/>
          <p:cNvSpPr txBox="1"/>
          <p:nvPr/>
        </p:nvSpPr>
        <p:spPr>
          <a:xfrm>
            <a:off x="9381744" y="2395728"/>
            <a:ext cx="103327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Partial</a:t>
            </a:r>
            <a:endParaRPr lang="en-US" sz="950" dirty="0"/>
          </a:p>
        </p:txBody>
      </p:sp>
      <p:sp>
        <p:nvSpPr>
          <p:cNvPr id="51" name="Shape 49"/>
          <p:cNvSpPr/>
          <p:nvPr/>
        </p:nvSpPr>
        <p:spPr>
          <a:xfrm>
            <a:off x="10469880" y="2395728"/>
            <a:ext cx="1188720" cy="365760"/>
          </a:xfrm>
          <a:prstGeom prst="rect">
            <a:avLst/>
          </a:prstGeom>
          <a:solidFill>
            <a:srgbClr val="EEF2F8"/>
          </a:solidFill>
          <a:ln w="9525">
            <a:solidFill>
              <a:srgbClr val="DCE3ED"/>
            </a:solidFill>
            <a:prstDash val="solid"/>
          </a:ln>
        </p:spPr>
      </p:sp>
      <p:sp>
        <p:nvSpPr>
          <p:cNvPr id="52" name="Text 50"/>
          <p:cNvSpPr txBox="1"/>
          <p:nvPr/>
        </p:nvSpPr>
        <p:spPr>
          <a:xfrm>
            <a:off x="10524744" y="2395728"/>
            <a:ext cx="107899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</a:t>
            </a:r>
            <a:endParaRPr lang="en-US" sz="950" dirty="0"/>
          </a:p>
        </p:txBody>
      </p:sp>
      <p:sp>
        <p:nvSpPr>
          <p:cNvPr id="53" name="Shape 51"/>
          <p:cNvSpPr/>
          <p:nvPr/>
        </p:nvSpPr>
        <p:spPr>
          <a:xfrm>
            <a:off x="4892040" y="2761488"/>
            <a:ext cx="2331720" cy="365760"/>
          </a:xfrm>
          <a:prstGeom prst="rect">
            <a:avLst/>
          </a:prstGeom>
          <a:solidFill>
            <a:srgbClr val="FFFFFF"/>
          </a:solidFill>
          <a:ln w="9525">
            <a:solidFill>
              <a:srgbClr val="DCE3ED"/>
            </a:solidFill>
            <a:prstDash val="solid"/>
          </a:ln>
        </p:spPr>
      </p:sp>
      <p:sp>
        <p:nvSpPr>
          <p:cNvPr id="54" name="Text 52"/>
          <p:cNvSpPr txBox="1"/>
          <p:nvPr/>
        </p:nvSpPr>
        <p:spPr>
          <a:xfrm>
            <a:off x="4946904" y="2761488"/>
            <a:ext cx="222199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b="1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Recurring subscription revenue</a:t>
            </a:r>
            <a:endParaRPr lang="en-US" sz="950" dirty="0"/>
          </a:p>
        </p:txBody>
      </p:sp>
      <p:sp>
        <p:nvSpPr>
          <p:cNvPr id="55" name="Shape 53"/>
          <p:cNvSpPr/>
          <p:nvPr/>
        </p:nvSpPr>
        <p:spPr>
          <a:xfrm>
            <a:off x="7223760" y="2761488"/>
            <a:ext cx="1051560" cy="365760"/>
          </a:xfrm>
          <a:prstGeom prst="rect">
            <a:avLst/>
          </a:prstGeom>
          <a:solidFill>
            <a:srgbClr val="FFFFFF"/>
          </a:solidFill>
          <a:ln w="9525">
            <a:solidFill>
              <a:srgbClr val="DCE3ED"/>
            </a:solidFill>
            <a:prstDash val="solid"/>
          </a:ln>
        </p:spPr>
      </p:sp>
      <p:sp>
        <p:nvSpPr>
          <p:cNvPr id="56" name="Text 54"/>
          <p:cNvSpPr txBox="1"/>
          <p:nvPr/>
        </p:nvSpPr>
        <p:spPr>
          <a:xfrm>
            <a:off x="7278624" y="2761488"/>
            <a:ext cx="94183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1F9D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Yes</a:t>
            </a:r>
            <a:endParaRPr lang="en-US" sz="950" dirty="0"/>
          </a:p>
        </p:txBody>
      </p:sp>
      <p:sp>
        <p:nvSpPr>
          <p:cNvPr id="57" name="Shape 55"/>
          <p:cNvSpPr/>
          <p:nvPr/>
        </p:nvSpPr>
        <p:spPr>
          <a:xfrm>
            <a:off x="8275320" y="2761488"/>
            <a:ext cx="1051560" cy="365760"/>
          </a:xfrm>
          <a:prstGeom prst="rect">
            <a:avLst/>
          </a:prstGeom>
          <a:solidFill>
            <a:srgbClr val="FFFFFF"/>
          </a:solidFill>
          <a:ln w="9525">
            <a:solidFill>
              <a:srgbClr val="DCE3ED"/>
            </a:solidFill>
            <a:prstDash val="solid"/>
          </a:ln>
        </p:spPr>
      </p:sp>
      <p:sp>
        <p:nvSpPr>
          <p:cNvPr id="58" name="Text 56"/>
          <p:cNvSpPr txBox="1"/>
          <p:nvPr/>
        </p:nvSpPr>
        <p:spPr>
          <a:xfrm>
            <a:off x="8330184" y="2761488"/>
            <a:ext cx="94183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Partial</a:t>
            </a:r>
            <a:endParaRPr lang="en-US" sz="950" dirty="0"/>
          </a:p>
        </p:txBody>
      </p:sp>
      <p:sp>
        <p:nvSpPr>
          <p:cNvPr id="59" name="Shape 57"/>
          <p:cNvSpPr/>
          <p:nvPr/>
        </p:nvSpPr>
        <p:spPr>
          <a:xfrm>
            <a:off x="9326880" y="2761488"/>
            <a:ext cx="1143000" cy="365760"/>
          </a:xfrm>
          <a:prstGeom prst="rect">
            <a:avLst/>
          </a:prstGeom>
          <a:solidFill>
            <a:srgbClr val="FFFFFF"/>
          </a:solidFill>
          <a:ln w="9525">
            <a:solidFill>
              <a:srgbClr val="DCE3ED"/>
            </a:solidFill>
            <a:prstDash val="solid"/>
          </a:ln>
        </p:spPr>
      </p:sp>
      <p:sp>
        <p:nvSpPr>
          <p:cNvPr id="60" name="Text 58"/>
          <p:cNvSpPr txBox="1"/>
          <p:nvPr/>
        </p:nvSpPr>
        <p:spPr>
          <a:xfrm>
            <a:off x="9381744" y="2761488"/>
            <a:ext cx="103327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</a:t>
            </a:r>
            <a:endParaRPr lang="en-US" sz="950" dirty="0"/>
          </a:p>
        </p:txBody>
      </p:sp>
      <p:sp>
        <p:nvSpPr>
          <p:cNvPr id="61" name="Shape 59"/>
          <p:cNvSpPr/>
          <p:nvPr/>
        </p:nvSpPr>
        <p:spPr>
          <a:xfrm>
            <a:off x="10469880" y="2761488"/>
            <a:ext cx="1188720" cy="365760"/>
          </a:xfrm>
          <a:prstGeom prst="rect">
            <a:avLst/>
          </a:prstGeom>
          <a:solidFill>
            <a:srgbClr val="FFFFFF"/>
          </a:solidFill>
          <a:ln w="9525">
            <a:solidFill>
              <a:srgbClr val="DCE3ED"/>
            </a:solidFill>
            <a:prstDash val="solid"/>
          </a:ln>
        </p:spPr>
      </p:sp>
      <p:sp>
        <p:nvSpPr>
          <p:cNvPr id="62" name="Text 60"/>
          <p:cNvSpPr txBox="1"/>
          <p:nvPr/>
        </p:nvSpPr>
        <p:spPr>
          <a:xfrm>
            <a:off x="10524744" y="2761488"/>
            <a:ext cx="107899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Sometimes</a:t>
            </a:r>
            <a:endParaRPr lang="en-US" sz="950" dirty="0"/>
          </a:p>
        </p:txBody>
      </p:sp>
      <p:sp>
        <p:nvSpPr>
          <p:cNvPr id="63" name="Shape 61"/>
          <p:cNvSpPr/>
          <p:nvPr/>
        </p:nvSpPr>
        <p:spPr>
          <a:xfrm>
            <a:off x="4892040" y="3127248"/>
            <a:ext cx="2331720" cy="365760"/>
          </a:xfrm>
          <a:prstGeom prst="rect">
            <a:avLst/>
          </a:prstGeom>
          <a:solidFill>
            <a:srgbClr val="EEF2F8"/>
          </a:solidFill>
          <a:ln w="9525">
            <a:solidFill>
              <a:srgbClr val="DCE3ED"/>
            </a:solidFill>
            <a:prstDash val="solid"/>
          </a:ln>
        </p:spPr>
      </p:sp>
      <p:sp>
        <p:nvSpPr>
          <p:cNvPr id="64" name="Text 62"/>
          <p:cNvSpPr txBox="1"/>
          <p:nvPr/>
        </p:nvSpPr>
        <p:spPr>
          <a:xfrm>
            <a:off x="4946904" y="3127248"/>
            <a:ext cx="222199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b="1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Scale (India, current)</a:t>
            </a:r>
            <a:endParaRPr lang="en-US" sz="950" dirty="0"/>
          </a:p>
        </p:txBody>
      </p:sp>
      <p:sp>
        <p:nvSpPr>
          <p:cNvPr id="65" name="Shape 63"/>
          <p:cNvSpPr/>
          <p:nvPr/>
        </p:nvSpPr>
        <p:spPr>
          <a:xfrm>
            <a:off x="7223760" y="3127248"/>
            <a:ext cx="1051560" cy="365760"/>
          </a:xfrm>
          <a:prstGeom prst="rect">
            <a:avLst/>
          </a:prstGeom>
          <a:solidFill>
            <a:srgbClr val="EEF2F8"/>
          </a:solidFill>
          <a:ln w="9525">
            <a:solidFill>
              <a:srgbClr val="DCE3ED"/>
            </a:solidFill>
            <a:prstDash val="solid"/>
          </a:ln>
        </p:spPr>
      </p:sp>
      <p:sp>
        <p:nvSpPr>
          <p:cNvPr id="66" name="Text 64"/>
          <p:cNvSpPr txBox="1"/>
          <p:nvPr/>
        </p:nvSpPr>
        <p:spPr>
          <a:xfrm>
            <a:off x="7278624" y="3127248"/>
            <a:ext cx="94183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Pilot</a:t>
            </a:r>
            <a:endParaRPr lang="en-US" sz="950" dirty="0"/>
          </a:p>
        </p:txBody>
      </p:sp>
      <p:sp>
        <p:nvSpPr>
          <p:cNvPr id="67" name="Shape 65"/>
          <p:cNvSpPr/>
          <p:nvPr/>
        </p:nvSpPr>
        <p:spPr>
          <a:xfrm>
            <a:off x="8275320" y="3127248"/>
            <a:ext cx="1051560" cy="365760"/>
          </a:xfrm>
          <a:prstGeom prst="rect">
            <a:avLst/>
          </a:prstGeom>
          <a:solidFill>
            <a:srgbClr val="EEF2F8"/>
          </a:solidFill>
          <a:ln w="9525">
            <a:solidFill>
              <a:srgbClr val="DCE3ED"/>
            </a:solidFill>
            <a:prstDash val="solid"/>
          </a:ln>
        </p:spPr>
      </p:sp>
      <p:sp>
        <p:nvSpPr>
          <p:cNvPr id="68" name="Text 66"/>
          <p:cNvSpPr txBox="1"/>
          <p:nvPr/>
        </p:nvSpPr>
        <p:spPr>
          <a:xfrm>
            <a:off x="8330184" y="3127248"/>
            <a:ext cx="94183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20M+ users</a:t>
            </a:r>
            <a:endParaRPr lang="en-US" sz="950" dirty="0"/>
          </a:p>
        </p:txBody>
      </p:sp>
      <p:sp>
        <p:nvSpPr>
          <p:cNvPr id="69" name="Shape 67"/>
          <p:cNvSpPr/>
          <p:nvPr/>
        </p:nvSpPr>
        <p:spPr>
          <a:xfrm>
            <a:off x="9326880" y="3127248"/>
            <a:ext cx="1143000" cy="365760"/>
          </a:xfrm>
          <a:prstGeom prst="rect">
            <a:avLst/>
          </a:prstGeom>
          <a:solidFill>
            <a:srgbClr val="EEF2F8"/>
          </a:solidFill>
          <a:ln w="9525">
            <a:solidFill>
              <a:srgbClr val="DCE3ED"/>
            </a:solidFill>
            <a:prstDash val="solid"/>
          </a:ln>
        </p:spPr>
      </p:sp>
      <p:sp>
        <p:nvSpPr>
          <p:cNvPr id="70" name="Text 68"/>
          <p:cNvSpPr txBox="1"/>
          <p:nvPr/>
        </p:nvSpPr>
        <p:spPr>
          <a:xfrm>
            <a:off x="9381744" y="3127248"/>
            <a:ext cx="103327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1,000+ centres</a:t>
            </a:r>
            <a:endParaRPr lang="en-US" sz="950" dirty="0"/>
          </a:p>
        </p:txBody>
      </p:sp>
      <p:sp>
        <p:nvSpPr>
          <p:cNvPr id="71" name="Shape 69"/>
          <p:cNvSpPr/>
          <p:nvPr/>
        </p:nvSpPr>
        <p:spPr>
          <a:xfrm>
            <a:off x="10469880" y="3127248"/>
            <a:ext cx="1188720" cy="365760"/>
          </a:xfrm>
          <a:prstGeom prst="rect">
            <a:avLst/>
          </a:prstGeom>
          <a:solidFill>
            <a:srgbClr val="EEF2F8"/>
          </a:solidFill>
          <a:ln w="9525">
            <a:solidFill>
              <a:srgbClr val="DCE3ED"/>
            </a:solidFill>
            <a:prstDash val="solid"/>
          </a:ln>
        </p:spPr>
      </p:sp>
      <p:sp>
        <p:nvSpPr>
          <p:cNvPr id="72" name="Text 70"/>
          <p:cNvSpPr txBox="1"/>
          <p:nvPr/>
        </p:nvSpPr>
        <p:spPr>
          <a:xfrm>
            <a:off x="10524744" y="3127248"/>
            <a:ext cx="107899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Fragmented</a:t>
            </a:r>
            <a:endParaRPr lang="en-US" sz="950" dirty="0"/>
          </a:p>
        </p:txBody>
      </p:sp>
      <p:sp>
        <p:nvSpPr>
          <p:cNvPr id="73" name="Text 71"/>
          <p:cNvSpPr txBox="1"/>
          <p:nvPr/>
        </p:nvSpPr>
        <p:spPr>
          <a:xfrm>
            <a:off x="4892040" y="3602736"/>
            <a:ext cx="67665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5B6B7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Differentiation: own workforce + society embedding lowers CAC; unified cleaning + emergency + servicing relationship lifts LTV.</a:t>
            </a:r>
            <a:endParaRPr lang="en-US" sz="1000" dirty="0"/>
          </a:p>
        </p:txBody>
      </p:sp>
      <p:sp>
        <p:nvSpPr>
          <p:cNvPr id="74" name="Text 72"/>
          <p:cNvSpPr txBox="1"/>
          <p:nvPr/>
        </p:nvSpPr>
        <p:spPr>
          <a:xfrm>
            <a:off x="502920" y="4434840"/>
            <a:ext cx="36576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Go-To-Market</a:t>
            </a:r>
            <a:endParaRPr lang="en-US" sz="1350" dirty="0"/>
          </a:p>
        </p:txBody>
      </p:sp>
      <p:sp>
        <p:nvSpPr>
          <p:cNvPr id="75" name="Shape 73"/>
          <p:cNvSpPr/>
          <p:nvPr/>
        </p:nvSpPr>
        <p:spPr>
          <a:xfrm>
            <a:off x="502920" y="4828032"/>
            <a:ext cx="502920" cy="502920"/>
          </a:xfrm>
          <a:prstGeom prst="ellipse">
            <a:avLst/>
          </a:prstGeom>
          <a:solidFill>
            <a:srgbClr val="FF7A00"/>
          </a:solidFill>
          <a:ln/>
        </p:spPr>
      </p:sp>
      <p:pic>
        <p:nvPicPr>
          <p:cNvPr id="76" name="Image 0" descr="/home/claude/autoease/icons/pin_0B1F3A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21792" y="4946904"/>
            <a:ext cx="265176" cy="265176"/>
          </a:xfrm>
          <a:prstGeom prst="rect">
            <a:avLst/>
          </a:prstGeom>
        </p:spPr>
      </p:pic>
      <p:sp>
        <p:nvSpPr>
          <p:cNvPr id="77" name="Text 74"/>
          <p:cNvSpPr txBox="1"/>
          <p:nvPr/>
        </p:nvSpPr>
        <p:spPr>
          <a:xfrm>
            <a:off x="1097280" y="4828032"/>
            <a:ext cx="198424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1</a:t>
            </a:r>
            <a:endParaRPr lang="en-US" sz="1200" dirty="0"/>
          </a:p>
        </p:txBody>
      </p:sp>
      <p:sp>
        <p:nvSpPr>
          <p:cNvPr id="78" name="Text 75"/>
          <p:cNvSpPr txBox="1"/>
          <p:nvPr/>
        </p:nvSpPr>
        <p:spPr>
          <a:xfrm>
            <a:off x="502920" y="5394960"/>
            <a:ext cx="2578608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200"/>
              </a:lnSpc>
              <a:buNone/>
            </a:pPr>
            <a:r>
              <a:rPr lang="en-US" sz="1000" dirty="0">
                <a:solidFill>
                  <a:srgbClr val="5B6B7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5–8 Noida societies, pre-sell AMC to 40–50 customers before 2-cleaner deployment</a:t>
            </a:r>
            <a:endParaRPr lang="en-US" sz="1000" dirty="0"/>
          </a:p>
        </p:txBody>
      </p:sp>
      <p:sp>
        <p:nvSpPr>
          <p:cNvPr id="79" name="Shape 76"/>
          <p:cNvSpPr/>
          <p:nvPr/>
        </p:nvSpPr>
        <p:spPr>
          <a:xfrm>
            <a:off x="3127248" y="5074920"/>
            <a:ext cx="274320" cy="0"/>
          </a:xfrm>
          <a:prstGeom prst="line">
            <a:avLst/>
          </a:prstGeom>
          <a:noFill/>
          <a:ln w="19050">
            <a:solidFill>
              <a:srgbClr val="C7CFDA"/>
            </a:solidFill>
            <a:prstDash val="solid"/>
          </a:ln>
        </p:spPr>
      </p:sp>
      <p:sp>
        <p:nvSpPr>
          <p:cNvPr id="80" name="Shape 77"/>
          <p:cNvSpPr/>
          <p:nvPr/>
        </p:nvSpPr>
        <p:spPr>
          <a:xfrm>
            <a:off x="3264408" y="4828032"/>
            <a:ext cx="502920" cy="502920"/>
          </a:xfrm>
          <a:prstGeom prst="ellipse">
            <a:avLst/>
          </a:prstGeom>
          <a:solidFill>
            <a:srgbClr val="FF7A00"/>
          </a:solidFill>
          <a:ln/>
        </p:spPr>
      </p:sp>
      <p:pic>
        <p:nvPicPr>
          <p:cNvPr id="81" name="Image 1" descr="/home/claude/autoease/icons/bolt_0B1F3A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383280" y="4946904"/>
            <a:ext cx="265176" cy="265176"/>
          </a:xfrm>
          <a:prstGeom prst="rect">
            <a:avLst/>
          </a:prstGeom>
        </p:spPr>
      </p:pic>
      <p:sp>
        <p:nvSpPr>
          <p:cNvPr id="82" name="Text 78"/>
          <p:cNvSpPr txBox="1"/>
          <p:nvPr/>
        </p:nvSpPr>
        <p:spPr>
          <a:xfrm>
            <a:off x="3858768" y="4828032"/>
            <a:ext cx="198424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2</a:t>
            </a:r>
            <a:endParaRPr lang="en-US" sz="1200" dirty="0"/>
          </a:p>
        </p:txBody>
      </p:sp>
      <p:sp>
        <p:nvSpPr>
          <p:cNvPr id="83" name="Text 79"/>
          <p:cNvSpPr txBox="1"/>
          <p:nvPr/>
        </p:nvSpPr>
        <p:spPr>
          <a:xfrm>
            <a:off x="3264408" y="5394960"/>
            <a:ext cx="2578608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200"/>
              </a:lnSpc>
              <a:buNone/>
            </a:pPr>
            <a:r>
              <a:rPr lang="en-US" sz="1000" dirty="0">
                <a:solidFill>
                  <a:srgbClr val="5B6B7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Expand within Noida, launch emergency services, build partner mechanic network</a:t>
            </a:r>
            <a:endParaRPr lang="en-US" sz="1000" dirty="0"/>
          </a:p>
        </p:txBody>
      </p:sp>
      <p:sp>
        <p:nvSpPr>
          <p:cNvPr id="84" name="Shape 80"/>
          <p:cNvSpPr/>
          <p:nvPr/>
        </p:nvSpPr>
        <p:spPr>
          <a:xfrm>
            <a:off x="5888736" y="5074920"/>
            <a:ext cx="274320" cy="0"/>
          </a:xfrm>
          <a:prstGeom prst="line">
            <a:avLst/>
          </a:prstGeom>
          <a:noFill/>
          <a:ln w="19050">
            <a:solidFill>
              <a:srgbClr val="C7CFDA"/>
            </a:solidFill>
            <a:prstDash val="solid"/>
          </a:ln>
        </p:spPr>
      </p:sp>
      <p:sp>
        <p:nvSpPr>
          <p:cNvPr id="85" name="Shape 81"/>
          <p:cNvSpPr/>
          <p:nvPr/>
        </p:nvSpPr>
        <p:spPr>
          <a:xfrm>
            <a:off x="6025896" y="4828032"/>
            <a:ext cx="502920" cy="502920"/>
          </a:xfrm>
          <a:prstGeom prst="ellipse">
            <a:avLst/>
          </a:prstGeom>
          <a:solidFill>
            <a:srgbClr val="FF7A00"/>
          </a:solidFill>
          <a:ln/>
        </p:spPr>
      </p:sp>
      <p:pic>
        <p:nvPicPr>
          <p:cNvPr id="86" name="Image 2" descr="/home/claude/autoease/icons/road_0B1F3A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144768" y="4946904"/>
            <a:ext cx="265176" cy="265176"/>
          </a:xfrm>
          <a:prstGeom prst="rect">
            <a:avLst/>
          </a:prstGeom>
        </p:spPr>
      </p:pic>
      <p:sp>
        <p:nvSpPr>
          <p:cNvPr id="87" name="Text 82"/>
          <p:cNvSpPr txBox="1"/>
          <p:nvPr/>
        </p:nvSpPr>
        <p:spPr>
          <a:xfrm>
            <a:off x="6620256" y="4828032"/>
            <a:ext cx="198424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3</a:t>
            </a:r>
            <a:endParaRPr lang="en-US" sz="1200" dirty="0"/>
          </a:p>
        </p:txBody>
      </p:sp>
      <p:sp>
        <p:nvSpPr>
          <p:cNvPr id="88" name="Text 83"/>
          <p:cNvSpPr txBox="1"/>
          <p:nvPr/>
        </p:nvSpPr>
        <p:spPr>
          <a:xfrm>
            <a:off x="6025896" y="5394960"/>
            <a:ext cx="2578608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200"/>
              </a:lnSpc>
              <a:buNone/>
            </a:pPr>
            <a:r>
              <a:rPr lang="en-US" sz="1000" dirty="0">
                <a:solidFill>
                  <a:srgbClr val="5B6B7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Enter Gurugram with proven playbook</a:t>
            </a:r>
            <a:endParaRPr lang="en-US" sz="1000" dirty="0"/>
          </a:p>
        </p:txBody>
      </p:sp>
      <p:sp>
        <p:nvSpPr>
          <p:cNvPr id="89" name="Shape 84"/>
          <p:cNvSpPr/>
          <p:nvPr/>
        </p:nvSpPr>
        <p:spPr>
          <a:xfrm>
            <a:off x="8650224" y="5074920"/>
            <a:ext cx="274320" cy="0"/>
          </a:xfrm>
          <a:prstGeom prst="line">
            <a:avLst/>
          </a:prstGeom>
          <a:noFill/>
          <a:ln w="19050">
            <a:solidFill>
              <a:srgbClr val="C7CFDA"/>
            </a:solidFill>
            <a:prstDash val="solid"/>
          </a:ln>
        </p:spPr>
      </p:sp>
      <p:sp>
        <p:nvSpPr>
          <p:cNvPr id="90" name="Shape 85"/>
          <p:cNvSpPr/>
          <p:nvPr/>
        </p:nvSpPr>
        <p:spPr>
          <a:xfrm>
            <a:off x="8787384" y="4828032"/>
            <a:ext cx="502920" cy="502920"/>
          </a:xfrm>
          <a:prstGeom prst="ellipse">
            <a:avLst/>
          </a:prstGeom>
          <a:solidFill>
            <a:srgbClr val="FF7A00"/>
          </a:solidFill>
          <a:ln/>
        </p:spPr>
      </p:sp>
      <p:pic>
        <p:nvPicPr>
          <p:cNvPr id="91" name="Image 3" descr="/home/claude/autoease/icons/building_0B1F3A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906256" y="4946904"/>
            <a:ext cx="265176" cy="265176"/>
          </a:xfrm>
          <a:prstGeom prst="rect">
            <a:avLst/>
          </a:prstGeom>
        </p:spPr>
      </p:pic>
      <p:sp>
        <p:nvSpPr>
          <p:cNvPr id="92" name="Text 86"/>
          <p:cNvSpPr txBox="1"/>
          <p:nvPr/>
        </p:nvSpPr>
        <p:spPr>
          <a:xfrm>
            <a:off x="9381744" y="4828032"/>
            <a:ext cx="198424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4</a:t>
            </a:r>
            <a:endParaRPr lang="en-US" sz="1200" dirty="0"/>
          </a:p>
        </p:txBody>
      </p:sp>
      <p:sp>
        <p:nvSpPr>
          <p:cNvPr id="93" name="Text 87"/>
          <p:cNvSpPr txBox="1"/>
          <p:nvPr/>
        </p:nvSpPr>
        <p:spPr>
          <a:xfrm>
            <a:off x="8787384" y="5394960"/>
            <a:ext cx="2578608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200"/>
              </a:lnSpc>
              <a:buNone/>
            </a:pPr>
            <a:r>
              <a:rPr lang="en-US" sz="1000" dirty="0">
                <a:solidFill>
                  <a:srgbClr val="5B6B7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Corporate &amp; fleet contracts across NCR</a:t>
            </a:r>
            <a:endParaRPr lang="en-US" sz="1000" dirty="0"/>
          </a:p>
        </p:txBody>
      </p:sp>
      <p:sp>
        <p:nvSpPr>
          <p:cNvPr id="94" name="Text 88"/>
          <p:cNvSpPr txBox="1"/>
          <p:nvPr/>
        </p:nvSpPr>
        <p:spPr>
          <a:xfrm>
            <a:off x="502920" y="6510528"/>
            <a:ext cx="111556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9AA7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Sources: ¹ Grand View Research, India Car Wash Service Market Outlook, 2026–2033. ² Fact.MR, Subscription Carwash Services Market, 2026. ³ Business Standard / CB Insights, Park+ funding data. ⁴ Tracxn, GoMechanic company profile, 2026.</a:t>
            </a:r>
            <a:endParaRPr lang="en-US" sz="7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7F8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02920" y="320040"/>
            <a:ext cx="10515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B1F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5-Year Financial Trajectory &amp; Use of Funds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502920" y="822960"/>
            <a:ext cx="111556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5B6B7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Base-case model: 7 → 125 average active societies, 45 → 68 AMC customers/society, on-demand mix rising 2% → 15% of AMC revenue.</a:t>
            </a:r>
            <a:endParaRPr lang="en-US" sz="1150" dirty="0"/>
          </a:p>
        </p:txBody>
      </p:sp>
      <p:sp>
        <p:nvSpPr>
          <p:cNvPr id="4" name="Text 2"/>
          <p:cNvSpPr txBox="1"/>
          <p:nvPr/>
        </p:nvSpPr>
        <p:spPr>
          <a:xfrm>
            <a:off x="502920" y="1280160"/>
            <a:ext cx="6400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Revenue &amp; EBITDA (₹ Lakh, base case)</a:t>
            </a:r>
            <a:endParaRPr lang="en-US" sz="1350" dirty="0"/>
          </a:p>
        </p:txBody>
      </p:sp>
      <p:graphicFrame>
        <p:nvGraphicFramePr>
          <p:cNvPr id="5" name="Chart 0" descr=""/>
          <p:cNvGraphicFramePr/>
          <p:nvPr/>
        </p:nvGraphicFramePr>
        <p:xfrm>
          <a:off x="457200" y="1572768"/>
          <a:ext cx="6492240" cy="324612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6" name="Text 3"/>
          <p:cNvSpPr txBox="1"/>
          <p:nvPr/>
        </p:nvSpPr>
        <p:spPr>
          <a:xfrm>
            <a:off x="502920" y="4892040"/>
            <a:ext cx="6400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5B6B7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EBITDA margin:  Y1 −138%   ·   Y2 −31%   ·   Y3 −0.6% (near break-even)   ·   Y4 +15%   ·   Y5 +22%</a:t>
            </a:r>
            <a:endParaRPr lang="en-US" sz="1000" dirty="0"/>
          </a:p>
        </p:txBody>
      </p:sp>
      <p:sp>
        <p:nvSpPr>
          <p:cNvPr id="7" name="Text 4"/>
          <p:cNvSpPr txBox="1"/>
          <p:nvPr/>
        </p:nvSpPr>
        <p:spPr>
          <a:xfrm>
            <a:off x="502920" y="5230368"/>
            <a:ext cx="6400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100"/>
              </a:lnSpc>
              <a:buNone/>
            </a:pPr>
            <a:r>
              <a:rPr lang="en-US" sz="900" i="1" dirty="0">
                <a:solidFill>
                  <a:srgbClr val="5B6B7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Assumptions: society-level contribution per stated cost formula, plus a modelled corporate overhead ramp (tech, G&amp;A, marketing) — indicative, not audited.</a:t>
            </a:r>
            <a:endParaRPr lang="en-US" sz="900" dirty="0"/>
          </a:p>
        </p:txBody>
      </p:sp>
      <p:sp>
        <p:nvSpPr>
          <p:cNvPr id="8" name="Text 5"/>
          <p:cNvSpPr txBox="1"/>
          <p:nvPr/>
        </p:nvSpPr>
        <p:spPr>
          <a:xfrm>
            <a:off x="7315200" y="1280160"/>
            <a:ext cx="43891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 of Funds — ₹45 Lakh Seed Ask</a:t>
            </a:r>
            <a:endParaRPr lang="en-US" sz="1350" dirty="0"/>
          </a:p>
        </p:txBody>
      </p:sp>
      <p:graphicFrame>
        <p:nvGraphicFramePr>
          <p:cNvPr id="9" name="Chart 1" descr=""/>
          <p:cNvGraphicFramePr/>
          <p:nvPr/>
        </p:nvGraphicFramePr>
        <p:xfrm>
          <a:off x="7360920" y="1572768"/>
          <a:ext cx="4297680" cy="246888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10" name="Text 6"/>
          <p:cNvSpPr txBox="1"/>
          <p:nvPr/>
        </p:nvSpPr>
        <p:spPr>
          <a:xfrm>
            <a:off x="7315200" y="3840480"/>
            <a:ext cx="43891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Line-item breakdown</a:t>
            </a:r>
            <a:endParaRPr lang="en-US" sz="1050" dirty="0"/>
          </a:p>
        </p:txBody>
      </p:sp>
      <p:sp>
        <p:nvSpPr>
          <p:cNvPr id="11" name="Text 7"/>
          <p:cNvSpPr txBox="1"/>
          <p:nvPr/>
        </p:nvSpPr>
        <p:spPr>
          <a:xfrm>
            <a:off x="7315200" y="4114800"/>
            <a:ext cx="15087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7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Cleaner workforce + overhead</a:t>
            </a:r>
            <a:endParaRPr lang="en-US" sz="870" dirty="0"/>
          </a:p>
        </p:txBody>
      </p:sp>
      <p:sp>
        <p:nvSpPr>
          <p:cNvPr id="12" name="Text 8"/>
          <p:cNvSpPr txBox="1"/>
          <p:nvPr/>
        </p:nvSpPr>
        <p:spPr>
          <a:xfrm>
            <a:off x="8823960" y="4114800"/>
            <a:ext cx="5029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70" b="1" dirty="0">
                <a:solidFill>
                  <a:srgbClr val="1B3B6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₹19.8 L</a:t>
            </a:r>
            <a:endParaRPr lang="en-US" sz="870" dirty="0"/>
          </a:p>
        </p:txBody>
      </p:sp>
      <p:sp>
        <p:nvSpPr>
          <p:cNvPr id="13" name="Text 9"/>
          <p:cNvSpPr txBox="1"/>
          <p:nvPr/>
        </p:nvSpPr>
        <p:spPr>
          <a:xfrm>
            <a:off x="7315200" y="4366260"/>
            <a:ext cx="15087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7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Software engineer</a:t>
            </a:r>
            <a:endParaRPr lang="en-US" sz="870" dirty="0"/>
          </a:p>
        </p:txBody>
      </p:sp>
      <p:sp>
        <p:nvSpPr>
          <p:cNvPr id="14" name="Text 10"/>
          <p:cNvSpPr txBox="1"/>
          <p:nvPr/>
        </p:nvSpPr>
        <p:spPr>
          <a:xfrm>
            <a:off x="8823960" y="4366260"/>
            <a:ext cx="5029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70" b="1" dirty="0">
                <a:solidFill>
                  <a:srgbClr val="1B3B6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₹10.0 L</a:t>
            </a:r>
            <a:endParaRPr lang="en-US" sz="870" dirty="0"/>
          </a:p>
        </p:txBody>
      </p:sp>
      <p:sp>
        <p:nvSpPr>
          <p:cNvPr id="15" name="Text 11"/>
          <p:cNvSpPr txBox="1"/>
          <p:nvPr/>
        </p:nvSpPr>
        <p:spPr>
          <a:xfrm>
            <a:off x="7315200" y="4617720"/>
            <a:ext cx="15087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7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 / cloud / QA</a:t>
            </a:r>
            <a:endParaRPr lang="en-US" sz="870" dirty="0"/>
          </a:p>
        </p:txBody>
      </p:sp>
      <p:sp>
        <p:nvSpPr>
          <p:cNvPr id="16" name="Text 12"/>
          <p:cNvSpPr txBox="1"/>
          <p:nvPr/>
        </p:nvSpPr>
        <p:spPr>
          <a:xfrm>
            <a:off x="8823960" y="4617720"/>
            <a:ext cx="5029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70" b="1" dirty="0">
                <a:solidFill>
                  <a:srgbClr val="1B3B6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₹2.0 L</a:t>
            </a:r>
            <a:endParaRPr lang="en-US" sz="870" dirty="0"/>
          </a:p>
        </p:txBody>
      </p:sp>
      <p:sp>
        <p:nvSpPr>
          <p:cNvPr id="17" name="Text 13"/>
          <p:cNvSpPr txBox="1"/>
          <p:nvPr/>
        </p:nvSpPr>
        <p:spPr>
          <a:xfrm>
            <a:off x="7315200" y="4869180"/>
            <a:ext cx="15087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7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Equipment &amp; uniforms</a:t>
            </a:r>
            <a:endParaRPr lang="en-US" sz="870" dirty="0"/>
          </a:p>
        </p:txBody>
      </p:sp>
      <p:sp>
        <p:nvSpPr>
          <p:cNvPr id="18" name="Text 14"/>
          <p:cNvSpPr txBox="1"/>
          <p:nvPr/>
        </p:nvSpPr>
        <p:spPr>
          <a:xfrm>
            <a:off x="8823960" y="4869180"/>
            <a:ext cx="5029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70" b="1" dirty="0">
                <a:solidFill>
                  <a:srgbClr val="1B3B6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₹1.5 L</a:t>
            </a:r>
            <a:endParaRPr lang="en-US" sz="870" dirty="0"/>
          </a:p>
        </p:txBody>
      </p:sp>
      <p:sp>
        <p:nvSpPr>
          <p:cNvPr id="19" name="Text 15"/>
          <p:cNvSpPr txBox="1"/>
          <p:nvPr/>
        </p:nvSpPr>
        <p:spPr>
          <a:xfrm>
            <a:off x="7315200" y="5120640"/>
            <a:ext cx="15087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7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Society acquisition / marketing</a:t>
            </a:r>
            <a:endParaRPr lang="en-US" sz="870" dirty="0"/>
          </a:p>
        </p:txBody>
      </p:sp>
      <p:sp>
        <p:nvSpPr>
          <p:cNvPr id="20" name="Text 16"/>
          <p:cNvSpPr txBox="1"/>
          <p:nvPr/>
        </p:nvSpPr>
        <p:spPr>
          <a:xfrm>
            <a:off x="8823960" y="5120640"/>
            <a:ext cx="5029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70" b="1" dirty="0">
                <a:solidFill>
                  <a:srgbClr val="1B3B6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₹4.0 L</a:t>
            </a:r>
            <a:endParaRPr lang="en-US" sz="870" dirty="0"/>
          </a:p>
        </p:txBody>
      </p:sp>
      <p:sp>
        <p:nvSpPr>
          <p:cNvPr id="21" name="Text 17"/>
          <p:cNvSpPr txBox="1"/>
          <p:nvPr/>
        </p:nvSpPr>
        <p:spPr>
          <a:xfrm>
            <a:off x="9464040" y="4114800"/>
            <a:ext cx="15087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7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Ops &amp; customer support</a:t>
            </a:r>
            <a:endParaRPr lang="en-US" sz="870" dirty="0"/>
          </a:p>
        </p:txBody>
      </p:sp>
      <p:sp>
        <p:nvSpPr>
          <p:cNvPr id="22" name="Text 18"/>
          <p:cNvSpPr txBox="1"/>
          <p:nvPr/>
        </p:nvSpPr>
        <p:spPr>
          <a:xfrm>
            <a:off x="10972800" y="4114800"/>
            <a:ext cx="5029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70" b="1" dirty="0">
                <a:solidFill>
                  <a:srgbClr val="1B3B6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₹2.0 L</a:t>
            </a:r>
            <a:endParaRPr lang="en-US" sz="870" dirty="0"/>
          </a:p>
        </p:txBody>
      </p:sp>
      <p:sp>
        <p:nvSpPr>
          <p:cNvPr id="23" name="Text 19"/>
          <p:cNvSpPr txBox="1"/>
          <p:nvPr/>
        </p:nvSpPr>
        <p:spPr>
          <a:xfrm>
            <a:off x="9464040" y="4366260"/>
            <a:ext cx="15087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7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Legal / insurance / compliance</a:t>
            </a:r>
            <a:endParaRPr lang="en-US" sz="870" dirty="0"/>
          </a:p>
        </p:txBody>
      </p:sp>
      <p:sp>
        <p:nvSpPr>
          <p:cNvPr id="24" name="Text 20"/>
          <p:cNvSpPr txBox="1"/>
          <p:nvPr/>
        </p:nvSpPr>
        <p:spPr>
          <a:xfrm>
            <a:off x="10972800" y="4366260"/>
            <a:ext cx="5029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70" b="1" dirty="0">
                <a:solidFill>
                  <a:srgbClr val="1B3B6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₹1.0 L</a:t>
            </a:r>
            <a:endParaRPr lang="en-US" sz="870" dirty="0"/>
          </a:p>
        </p:txBody>
      </p:sp>
      <p:sp>
        <p:nvSpPr>
          <p:cNvPr id="25" name="Text 21"/>
          <p:cNvSpPr txBox="1"/>
          <p:nvPr/>
        </p:nvSpPr>
        <p:spPr>
          <a:xfrm>
            <a:off x="9464040" y="4617720"/>
            <a:ext cx="15087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7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Contingency</a:t>
            </a:r>
            <a:endParaRPr lang="en-US" sz="870" dirty="0"/>
          </a:p>
        </p:txBody>
      </p:sp>
      <p:sp>
        <p:nvSpPr>
          <p:cNvPr id="26" name="Text 22"/>
          <p:cNvSpPr txBox="1"/>
          <p:nvPr/>
        </p:nvSpPr>
        <p:spPr>
          <a:xfrm>
            <a:off x="10972800" y="4617720"/>
            <a:ext cx="5029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70" b="1" dirty="0">
                <a:solidFill>
                  <a:srgbClr val="1B3B6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₹2.5 L</a:t>
            </a:r>
            <a:endParaRPr lang="en-US" sz="870" dirty="0"/>
          </a:p>
        </p:txBody>
      </p:sp>
      <p:sp>
        <p:nvSpPr>
          <p:cNvPr id="27" name="Text 23"/>
          <p:cNvSpPr txBox="1"/>
          <p:nvPr/>
        </p:nvSpPr>
        <p:spPr>
          <a:xfrm>
            <a:off x="9464040" y="4869180"/>
            <a:ext cx="15087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7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Working-capital reserve</a:t>
            </a:r>
            <a:endParaRPr lang="en-US" sz="870" dirty="0"/>
          </a:p>
        </p:txBody>
      </p:sp>
      <p:sp>
        <p:nvSpPr>
          <p:cNvPr id="28" name="Text 24"/>
          <p:cNvSpPr txBox="1"/>
          <p:nvPr/>
        </p:nvSpPr>
        <p:spPr>
          <a:xfrm>
            <a:off x="10972800" y="4869180"/>
            <a:ext cx="5029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70" b="1" dirty="0">
                <a:solidFill>
                  <a:srgbClr val="1B3B6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₹2.2 L</a:t>
            </a:r>
            <a:endParaRPr lang="en-US" sz="870" dirty="0"/>
          </a:p>
        </p:txBody>
      </p:sp>
      <p:sp>
        <p:nvSpPr>
          <p:cNvPr id="29" name="Text 25"/>
          <p:cNvSpPr txBox="1"/>
          <p:nvPr/>
        </p:nvSpPr>
        <p:spPr>
          <a:xfrm>
            <a:off x="7315200" y="5989320"/>
            <a:ext cx="44348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100"/>
              </a:lnSpc>
              <a:buNone/>
            </a:pPr>
            <a:r>
              <a:rPr lang="en-US" sz="900" i="1" dirty="0">
                <a:solidFill>
                  <a:srgbClr val="5B6B7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Purpose: fund a 12-month Noida pilot — app build, cleaning workforce, customer acquisition, and emergency-partner network — to prove society-level unit economics before Gurugram.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B1F3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02920" y="320040"/>
            <a:ext cx="10515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Valuation, Returns &amp; The Ask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502920" y="914400"/>
            <a:ext cx="26060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7A0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₹45 L</a:t>
            </a:r>
            <a:endParaRPr lang="en-US" sz="2200" dirty="0"/>
          </a:p>
        </p:txBody>
      </p:sp>
      <p:sp>
        <p:nvSpPr>
          <p:cNvPr id="4" name="Text 2"/>
          <p:cNvSpPr txBox="1"/>
          <p:nvPr/>
        </p:nvSpPr>
        <p:spPr>
          <a:xfrm>
            <a:off x="502920" y="1335024"/>
            <a:ext cx="2606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C7D4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Investment</a:t>
            </a:r>
            <a:endParaRPr lang="en-US" sz="1050" dirty="0"/>
          </a:p>
        </p:txBody>
      </p:sp>
      <p:sp>
        <p:nvSpPr>
          <p:cNvPr id="5" name="Text 3"/>
          <p:cNvSpPr txBox="1"/>
          <p:nvPr/>
        </p:nvSpPr>
        <p:spPr>
          <a:xfrm>
            <a:off x="3291840" y="914400"/>
            <a:ext cx="26060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7A0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20%</a:t>
            </a:r>
            <a:endParaRPr lang="en-US" sz="2200" dirty="0"/>
          </a:p>
        </p:txBody>
      </p:sp>
      <p:sp>
        <p:nvSpPr>
          <p:cNvPr id="6" name="Text 4"/>
          <p:cNvSpPr txBox="1"/>
          <p:nvPr/>
        </p:nvSpPr>
        <p:spPr>
          <a:xfrm>
            <a:off x="3291840" y="1335024"/>
            <a:ext cx="2606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C7D4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Investor ownership</a:t>
            </a:r>
            <a:endParaRPr lang="en-US" sz="1050" dirty="0"/>
          </a:p>
        </p:txBody>
      </p:sp>
      <p:sp>
        <p:nvSpPr>
          <p:cNvPr id="7" name="Shape 5"/>
          <p:cNvSpPr/>
          <p:nvPr/>
        </p:nvSpPr>
        <p:spPr>
          <a:xfrm>
            <a:off x="3154680" y="914400"/>
            <a:ext cx="0" cy="685800"/>
          </a:xfrm>
          <a:prstGeom prst="line">
            <a:avLst/>
          </a:prstGeom>
          <a:noFill/>
          <a:ln w="12700">
            <a:solidFill>
              <a:srgbClr val="27395C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6080760" y="914400"/>
            <a:ext cx="26060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7A0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₹1.80 Cr</a:t>
            </a:r>
            <a:endParaRPr lang="en-US" sz="2200" dirty="0"/>
          </a:p>
        </p:txBody>
      </p:sp>
      <p:sp>
        <p:nvSpPr>
          <p:cNvPr id="9" name="Text 7"/>
          <p:cNvSpPr txBox="1"/>
          <p:nvPr/>
        </p:nvSpPr>
        <p:spPr>
          <a:xfrm>
            <a:off x="6080760" y="1335024"/>
            <a:ext cx="2606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C7D4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Pre-money valuation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5943600" y="914400"/>
            <a:ext cx="0" cy="685800"/>
          </a:xfrm>
          <a:prstGeom prst="line">
            <a:avLst/>
          </a:prstGeom>
          <a:noFill/>
          <a:ln w="12700">
            <a:solidFill>
              <a:srgbClr val="27395C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8869680" y="914400"/>
            <a:ext cx="26060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7A0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₹2.25 Cr</a:t>
            </a:r>
            <a:endParaRPr lang="en-US" sz="2200" dirty="0"/>
          </a:p>
        </p:txBody>
      </p:sp>
      <p:sp>
        <p:nvSpPr>
          <p:cNvPr id="12" name="Text 10"/>
          <p:cNvSpPr txBox="1"/>
          <p:nvPr/>
        </p:nvSpPr>
        <p:spPr>
          <a:xfrm>
            <a:off x="8869680" y="1335024"/>
            <a:ext cx="2606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C7D4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Post-money valuation</a:t>
            </a:r>
            <a:endParaRPr lang="en-US" sz="1050" dirty="0"/>
          </a:p>
        </p:txBody>
      </p:sp>
      <p:sp>
        <p:nvSpPr>
          <p:cNvPr id="13" name="Shape 11"/>
          <p:cNvSpPr/>
          <p:nvPr/>
        </p:nvSpPr>
        <p:spPr>
          <a:xfrm>
            <a:off x="8732520" y="914400"/>
            <a:ext cx="0" cy="685800"/>
          </a:xfrm>
          <a:prstGeom prst="line">
            <a:avLst/>
          </a:prstGeom>
          <a:noFill/>
          <a:ln w="12700">
            <a:solidFill>
              <a:srgbClr val="27395C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502920" y="1664208"/>
            <a:ext cx="100584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i="1" dirty="0">
                <a:solidFill>
                  <a:srgbClr val="8FA3C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Illustrative — based on 20% ownership at seed; final terms subject to negotiation.</a:t>
            </a:r>
            <a:endParaRPr lang="en-US" sz="850" dirty="0"/>
          </a:p>
        </p:txBody>
      </p:sp>
      <p:sp>
        <p:nvSpPr>
          <p:cNvPr id="15" name="Text 13"/>
          <p:cNvSpPr txBox="1"/>
          <p:nvPr/>
        </p:nvSpPr>
        <p:spPr>
          <a:xfrm>
            <a:off x="502920" y="2057400"/>
            <a:ext cx="73152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Illustrative Potential Returns — Not Guaranteed</a:t>
            </a:r>
            <a:endParaRPr lang="en-US" sz="1350" dirty="0"/>
          </a:p>
        </p:txBody>
      </p:sp>
      <p:sp>
        <p:nvSpPr>
          <p:cNvPr id="16" name="Shape 14"/>
          <p:cNvSpPr/>
          <p:nvPr/>
        </p:nvSpPr>
        <p:spPr>
          <a:xfrm>
            <a:off x="502920" y="2359152"/>
            <a:ext cx="3108960" cy="274320"/>
          </a:xfrm>
          <a:prstGeom prst="rect">
            <a:avLst/>
          </a:prstGeom>
          <a:solidFill>
            <a:srgbClr val="0A1A30"/>
          </a:solidFill>
          <a:ln w="6350">
            <a:solidFill>
              <a:srgbClr val="1E3963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594360" y="2359152"/>
            <a:ext cx="2926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endParaRPr lang="en-US" sz="1050" dirty="0"/>
          </a:p>
        </p:txBody>
      </p:sp>
      <p:sp>
        <p:nvSpPr>
          <p:cNvPr id="18" name="Shape 16"/>
          <p:cNvSpPr/>
          <p:nvPr/>
        </p:nvSpPr>
        <p:spPr>
          <a:xfrm>
            <a:off x="3611880" y="2359152"/>
            <a:ext cx="2679192" cy="274320"/>
          </a:xfrm>
          <a:prstGeom prst="rect">
            <a:avLst/>
          </a:prstGeom>
          <a:solidFill>
            <a:srgbClr val="0A1A30"/>
          </a:solidFill>
          <a:ln w="6350">
            <a:solidFill>
              <a:srgbClr val="1E3963"/>
            </a:solidFill>
            <a:prstDash val="solid"/>
          </a:ln>
        </p:spPr>
      </p:sp>
      <p:sp>
        <p:nvSpPr>
          <p:cNvPr id="19" name="Text 17"/>
          <p:cNvSpPr txBox="1"/>
          <p:nvPr/>
        </p:nvSpPr>
        <p:spPr>
          <a:xfrm>
            <a:off x="3703320" y="2359152"/>
            <a:ext cx="249631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7A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Downside</a:t>
            </a:r>
            <a:endParaRPr lang="en-US" sz="1050" dirty="0"/>
          </a:p>
        </p:txBody>
      </p:sp>
      <p:sp>
        <p:nvSpPr>
          <p:cNvPr id="20" name="Shape 18"/>
          <p:cNvSpPr/>
          <p:nvPr/>
        </p:nvSpPr>
        <p:spPr>
          <a:xfrm>
            <a:off x="6291072" y="2359152"/>
            <a:ext cx="2679192" cy="274320"/>
          </a:xfrm>
          <a:prstGeom prst="rect">
            <a:avLst/>
          </a:prstGeom>
          <a:solidFill>
            <a:srgbClr val="0A1A30"/>
          </a:solidFill>
          <a:ln w="6350">
            <a:solidFill>
              <a:srgbClr val="1E3963"/>
            </a:solidFill>
            <a:prstDash val="solid"/>
          </a:ln>
        </p:spPr>
      </p:sp>
      <p:sp>
        <p:nvSpPr>
          <p:cNvPr id="21" name="Text 19"/>
          <p:cNvSpPr txBox="1"/>
          <p:nvPr/>
        </p:nvSpPr>
        <p:spPr>
          <a:xfrm>
            <a:off x="6382512" y="2359152"/>
            <a:ext cx="249631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7A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Base</a:t>
            </a:r>
            <a:endParaRPr lang="en-US" sz="1050" dirty="0"/>
          </a:p>
        </p:txBody>
      </p:sp>
      <p:sp>
        <p:nvSpPr>
          <p:cNvPr id="22" name="Shape 20"/>
          <p:cNvSpPr/>
          <p:nvPr/>
        </p:nvSpPr>
        <p:spPr>
          <a:xfrm>
            <a:off x="8970264" y="2359152"/>
            <a:ext cx="2679192" cy="274320"/>
          </a:xfrm>
          <a:prstGeom prst="rect">
            <a:avLst/>
          </a:prstGeom>
          <a:solidFill>
            <a:srgbClr val="0A1A30"/>
          </a:solidFill>
          <a:ln w="6350">
            <a:solidFill>
              <a:srgbClr val="1E3963"/>
            </a:solidFill>
            <a:prstDash val="solid"/>
          </a:ln>
        </p:spPr>
      </p:sp>
      <p:sp>
        <p:nvSpPr>
          <p:cNvPr id="23" name="Text 21"/>
          <p:cNvSpPr txBox="1"/>
          <p:nvPr/>
        </p:nvSpPr>
        <p:spPr>
          <a:xfrm>
            <a:off x="9061704" y="2359152"/>
            <a:ext cx="249631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7A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Upside</a:t>
            </a:r>
            <a:endParaRPr lang="en-US" sz="1050" dirty="0"/>
          </a:p>
        </p:txBody>
      </p:sp>
      <p:sp>
        <p:nvSpPr>
          <p:cNvPr id="24" name="Shape 22"/>
          <p:cNvSpPr/>
          <p:nvPr/>
        </p:nvSpPr>
        <p:spPr>
          <a:xfrm>
            <a:off x="502920" y="2633472"/>
            <a:ext cx="3108960" cy="274320"/>
          </a:xfrm>
          <a:prstGeom prst="rect">
            <a:avLst/>
          </a:prstGeom>
          <a:solidFill>
            <a:srgbClr val="0A1A30"/>
          </a:solidFill>
          <a:ln w="6350">
            <a:solidFill>
              <a:srgbClr val="1E3963"/>
            </a:solidFill>
            <a:prstDash val="solid"/>
          </a:ln>
        </p:spPr>
      </p:sp>
      <p:sp>
        <p:nvSpPr>
          <p:cNvPr id="25" name="Text 23"/>
          <p:cNvSpPr txBox="1"/>
          <p:nvPr/>
        </p:nvSpPr>
        <p:spPr>
          <a:xfrm>
            <a:off x="594360" y="2633472"/>
            <a:ext cx="2926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Year-5 revenue</a:t>
            </a:r>
            <a:endParaRPr lang="en-US" sz="1000" dirty="0"/>
          </a:p>
        </p:txBody>
      </p:sp>
      <p:sp>
        <p:nvSpPr>
          <p:cNvPr id="26" name="Shape 24"/>
          <p:cNvSpPr/>
          <p:nvPr/>
        </p:nvSpPr>
        <p:spPr>
          <a:xfrm>
            <a:off x="3611880" y="2633472"/>
            <a:ext cx="2679192" cy="274320"/>
          </a:xfrm>
          <a:prstGeom prst="rect">
            <a:avLst/>
          </a:prstGeom>
          <a:solidFill>
            <a:srgbClr val="0A1A30"/>
          </a:solidFill>
          <a:ln w="6350">
            <a:solidFill>
              <a:srgbClr val="1E3963"/>
            </a:solidFill>
            <a:prstDash val="solid"/>
          </a:ln>
        </p:spPr>
      </p:sp>
      <p:sp>
        <p:nvSpPr>
          <p:cNvPr id="27" name="Text 25"/>
          <p:cNvSpPr txBox="1"/>
          <p:nvPr/>
        </p:nvSpPr>
        <p:spPr>
          <a:xfrm>
            <a:off x="3703320" y="2633472"/>
            <a:ext cx="249631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₹562 L</a:t>
            </a:r>
            <a:endParaRPr lang="en-US" sz="1000" dirty="0"/>
          </a:p>
        </p:txBody>
      </p:sp>
      <p:sp>
        <p:nvSpPr>
          <p:cNvPr id="28" name="Shape 26"/>
          <p:cNvSpPr/>
          <p:nvPr/>
        </p:nvSpPr>
        <p:spPr>
          <a:xfrm>
            <a:off x="6291072" y="2633472"/>
            <a:ext cx="2679192" cy="274320"/>
          </a:xfrm>
          <a:prstGeom prst="rect">
            <a:avLst/>
          </a:prstGeom>
          <a:solidFill>
            <a:srgbClr val="142B4D"/>
          </a:solidFill>
          <a:ln w="6350">
            <a:solidFill>
              <a:srgbClr val="1E3963"/>
            </a:solidFill>
            <a:prstDash val="solid"/>
          </a:ln>
        </p:spPr>
      </p:sp>
      <p:sp>
        <p:nvSpPr>
          <p:cNvPr id="29" name="Text 27"/>
          <p:cNvSpPr txBox="1"/>
          <p:nvPr/>
        </p:nvSpPr>
        <p:spPr>
          <a:xfrm>
            <a:off x="6382512" y="2633472"/>
            <a:ext cx="249631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₹937 L</a:t>
            </a:r>
            <a:endParaRPr lang="en-US" sz="1000" dirty="0"/>
          </a:p>
        </p:txBody>
      </p:sp>
      <p:sp>
        <p:nvSpPr>
          <p:cNvPr id="30" name="Shape 28"/>
          <p:cNvSpPr/>
          <p:nvPr/>
        </p:nvSpPr>
        <p:spPr>
          <a:xfrm>
            <a:off x="8970264" y="2633472"/>
            <a:ext cx="2679192" cy="274320"/>
          </a:xfrm>
          <a:prstGeom prst="rect">
            <a:avLst/>
          </a:prstGeom>
          <a:solidFill>
            <a:srgbClr val="0A1A30"/>
          </a:solidFill>
          <a:ln w="6350">
            <a:solidFill>
              <a:srgbClr val="1E3963"/>
            </a:solidFill>
            <a:prstDash val="solid"/>
          </a:ln>
        </p:spPr>
      </p:sp>
      <p:sp>
        <p:nvSpPr>
          <p:cNvPr id="31" name="Text 29"/>
          <p:cNvSpPr txBox="1"/>
          <p:nvPr/>
        </p:nvSpPr>
        <p:spPr>
          <a:xfrm>
            <a:off x="9061704" y="2633472"/>
            <a:ext cx="249631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₹1,406 L</a:t>
            </a:r>
            <a:endParaRPr lang="en-US" sz="1000" dirty="0"/>
          </a:p>
        </p:txBody>
      </p:sp>
      <p:sp>
        <p:nvSpPr>
          <p:cNvPr id="32" name="Shape 30"/>
          <p:cNvSpPr/>
          <p:nvPr/>
        </p:nvSpPr>
        <p:spPr>
          <a:xfrm>
            <a:off x="502920" y="2907792"/>
            <a:ext cx="3108960" cy="274320"/>
          </a:xfrm>
          <a:prstGeom prst="rect">
            <a:avLst/>
          </a:prstGeom>
          <a:solidFill>
            <a:srgbClr val="0F2340"/>
          </a:solidFill>
          <a:ln w="6350">
            <a:solidFill>
              <a:srgbClr val="1E3963"/>
            </a:solidFill>
            <a:prstDash val="solid"/>
          </a:ln>
        </p:spPr>
      </p:sp>
      <p:sp>
        <p:nvSpPr>
          <p:cNvPr id="33" name="Text 31"/>
          <p:cNvSpPr txBox="1"/>
          <p:nvPr/>
        </p:nvSpPr>
        <p:spPr>
          <a:xfrm>
            <a:off x="594360" y="2907792"/>
            <a:ext cx="2926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Year-5 EBITDA (margin)</a:t>
            </a:r>
            <a:endParaRPr lang="en-US" sz="1000" dirty="0"/>
          </a:p>
        </p:txBody>
      </p:sp>
      <p:sp>
        <p:nvSpPr>
          <p:cNvPr id="34" name="Shape 32"/>
          <p:cNvSpPr/>
          <p:nvPr/>
        </p:nvSpPr>
        <p:spPr>
          <a:xfrm>
            <a:off x="3611880" y="2907792"/>
            <a:ext cx="2679192" cy="274320"/>
          </a:xfrm>
          <a:prstGeom prst="rect">
            <a:avLst/>
          </a:prstGeom>
          <a:solidFill>
            <a:srgbClr val="0F2340"/>
          </a:solidFill>
          <a:ln w="6350">
            <a:solidFill>
              <a:srgbClr val="1E3963"/>
            </a:solidFill>
            <a:prstDash val="solid"/>
          </a:ln>
        </p:spPr>
      </p:sp>
      <p:sp>
        <p:nvSpPr>
          <p:cNvPr id="35" name="Text 33"/>
          <p:cNvSpPr txBox="1"/>
          <p:nvPr/>
        </p:nvSpPr>
        <p:spPr>
          <a:xfrm>
            <a:off x="3703320" y="2907792"/>
            <a:ext cx="249631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₹102 L (18%)</a:t>
            </a:r>
            <a:endParaRPr lang="en-US" sz="1000" dirty="0"/>
          </a:p>
        </p:txBody>
      </p:sp>
      <p:sp>
        <p:nvSpPr>
          <p:cNvPr id="36" name="Shape 34"/>
          <p:cNvSpPr/>
          <p:nvPr/>
        </p:nvSpPr>
        <p:spPr>
          <a:xfrm>
            <a:off x="6291072" y="2907792"/>
            <a:ext cx="2679192" cy="274320"/>
          </a:xfrm>
          <a:prstGeom prst="rect">
            <a:avLst/>
          </a:prstGeom>
          <a:solidFill>
            <a:srgbClr val="142B4D"/>
          </a:solidFill>
          <a:ln w="6350">
            <a:solidFill>
              <a:srgbClr val="1E3963"/>
            </a:solidFill>
            <a:prstDash val="solid"/>
          </a:ln>
        </p:spPr>
      </p:sp>
      <p:sp>
        <p:nvSpPr>
          <p:cNvPr id="37" name="Text 35"/>
          <p:cNvSpPr txBox="1"/>
          <p:nvPr/>
        </p:nvSpPr>
        <p:spPr>
          <a:xfrm>
            <a:off x="6382512" y="2907792"/>
            <a:ext cx="249631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₹205 L (22%)</a:t>
            </a:r>
            <a:endParaRPr lang="en-US" sz="1000" dirty="0"/>
          </a:p>
        </p:txBody>
      </p:sp>
      <p:sp>
        <p:nvSpPr>
          <p:cNvPr id="38" name="Shape 36"/>
          <p:cNvSpPr/>
          <p:nvPr/>
        </p:nvSpPr>
        <p:spPr>
          <a:xfrm>
            <a:off x="8970264" y="2907792"/>
            <a:ext cx="2679192" cy="274320"/>
          </a:xfrm>
          <a:prstGeom prst="rect">
            <a:avLst/>
          </a:prstGeom>
          <a:solidFill>
            <a:srgbClr val="0F2340"/>
          </a:solidFill>
          <a:ln w="6350">
            <a:solidFill>
              <a:srgbClr val="1E3963"/>
            </a:solidFill>
            <a:prstDash val="solid"/>
          </a:ln>
        </p:spPr>
      </p:sp>
      <p:sp>
        <p:nvSpPr>
          <p:cNvPr id="39" name="Text 37"/>
          <p:cNvSpPr txBox="1"/>
          <p:nvPr/>
        </p:nvSpPr>
        <p:spPr>
          <a:xfrm>
            <a:off x="9061704" y="2907792"/>
            <a:ext cx="249631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₹307 L (22%)</a:t>
            </a:r>
            <a:endParaRPr lang="en-US" sz="1000" dirty="0"/>
          </a:p>
        </p:txBody>
      </p:sp>
      <p:sp>
        <p:nvSpPr>
          <p:cNvPr id="40" name="Shape 38"/>
          <p:cNvSpPr/>
          <p:nvPr/>
        </p:nvSpPr>
        <p:spPr>
          <a:xfrm>
            <a:off x="502920" y="3182112"/>
            <a:ext cx="3108960" cy="274320"/>
          </a:xfrm>
          <a:prstGeom prst="rect">
            <a:avLst/>
          </a:prstGeom>
          <a:solidFill>
            <a:srgbClr val="0A1A30"/>
          </a:solidFill>
          <a:ln w="6350">
            <a:solidFill>
              <a:srgbClr val="1E3963"/>
            </a:solidFill>
            <a:prstDash val="solid"/>
          </a:ln>
        </p:spPr>
      </p:sp>
      <p:sp>
        <p:nvSpPr>
          <p:cNvPr id="41" name="Text 39"/>
          <p:cNvSpPr txBox="1"/>
          <p:nvPr/>
        </p:nvSpPr>
        <p:spPr>
          <a:xfrm>
            <a:off x="594360" y="3182112"/>
            <a:ext cx="2926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Exit multiple (EV/EBITDA)</a:t>
            </a:r>
            <a:endParaRPr lang="en-US" sz="1000" dirty="0"/>
          </a:p>
        </p:txBody>
      </p:sp>
      <p:sp>
        <p:nvSpPr>
          <p:cNvPr id="42" name="Shape 40"/>
          <p:cNvSpPr/>
          <p:nvPr/>
        </p:nvSpPr>
        <p:spPr>
          <a:xfrm>
            <a:off x="3611880" y="3182112"/>
            <a:ext cx="2679192" cy="274320"/>
          </a:xfrm>
          <a:prstGeom prst="rect">
            <a:avLst/>
          </a:prstGeom>
          <a:solidFill>
            <a:srgbClr val="0A1A30"/>
          </a:solidFill>
          <a:ln w="6350">
            <a:solidFill>
              <a:srgbClr val="1E3963"/>
            </a:solidFill>
            <a:prstDash val="solid"/>
          </a:ln>
        </p:spPr>
      </p:sp>
      <p:sp>
        <p:nvSpPr>
          <p:cNvPr id="43" name="Text 41"/>
          <p:cNvSpPr txBox="1"/>
          <p:nvPr/>
        </p:nvSpPr>
        <p:spPr>
          <a:xfrm>
            <a:off x="3703320" y="3182112"/>
            <a:ext cx="249631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6x</a:t>
            </a:r>
            <a:endParaRPr lang="en-US" sz="1000" dirty="0"/>
          </a:p>
        </p:txBody>
      </p:sp>
      <p:sp>
        <p:nvSpPr>
          <p:cNvPr id="44" name="Shape 42"/>
          <p:cNvSpPr/>
          <p:nvPr/>
        </p:nvSpPr>
        <p:spPr>
          <a:xfrm>
            <a:off x="6291072" y="3182112"/>
            <a:ext cx="2679192" cy="274320"/>
          </a:xfrm>
          <a:prstGeom prst="rect">
            <a:avLst/>
          </a:prstGeom>
          <a:solidFill>
            <a:srgbClr val="142B4D"/>
          </a:solidFill>
          <a:ln w="6350">
            <a:solidFill>
              <a:srgbClr val="1E3963"/>
            </a:solidFill>
            <a:prstDash val="solid"/>
          </a:ln>
        </p:spPr>
      </p:sp>
      <p:sp>
        <p:nvSpPr>
          <p:cNvPr id="45" name="Text 43"/>
          <p:cNvSpPr txBox="1"/>
          <p:nvPr/>
        </p:nvSpPr>
        <p:spPr>
          <a:xfrm>
            <a:off x="6382512" y="3182112"/>
            <a:ext cx="249631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8x</a:t>
            </a:r>
            <a:endParaRPr lang="en-US" sz="1000" dirty="0"/>
          </a:p>
        </p:txBody>
      </p:sp>
      <p:sp>
        <p:nvSpPr>
          <p:cNvPr id="46" name="Shape 44"/>
          <p:cNvSpPr/>
          <p:nvPr/>
        </p:nvSpPr>
        <p:spPr>
          <a:xfrm>
            <a:off x="8970264" y="3182112"/>
            <a:ext cx="2679192" cy="274320"/>
          </a:xfrm>
          <a:prstGeom prst="rect">
            <a:avLst/>
          </a:prstGeom>
          <a:solidFill>
            <a:srgbClr val="0A1A30"/>
          </a:solidFill>
          <a:ln w="6350">
            <a:solidFill>
              <a:srgbClr val="1E3963"/>
            </a:solidFill>
            <a:prstDash val="solid"/>
          </a:ln>
        </p:spPr>
      </p:sp>
      <p:sp>
        <p:nvSpPr>
          <p:cNvPr id="47" name="Text 45"/>
          <p:cNvSpPr txBox="1"/>
          <p:nvPr/>
        </p:nvSpPr>
        <p:spPr>
          <a:xfrm>
            <a:off x="9061704" y="3182112"/>
            <a:ext cx="249631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10x</a:t>
            </a:r>
            <a:endParaRPr lang="en-US" sz="1000" dirty="0"/>
          </a:p>
        </p:txBody>
      </p:sp>
      <p:sp>
        <p:nvSpPr>
          <p:cNvPr id="48" name="Shape 46"/>
          <p:cNvSpPr/>
          <p:nvPr/>
        </p:nvSpPr>
        <p:spPr>
          <a:xfrm>
            <a:off x="502920" y="3456432"/>
            <a:ext cx="3108960" cy="274320"/>
          </a:xfrm>
          <a:prstGeom prst="rect">
            <a:avLst/>
          </a:prstGeom>
          <a:solidFill>
            <a:srgbClr val="0F2340"/>
          </a:solidFill>
          <a:ln w="6350">
            <a:solidFill>
              <a:srgbClr val="1E3963"/>
            </a:solidFill>
            <a:prstDash val="solid"/>
          </a:ln>
        </p:spPr>
      </p:sp>
      <p:sp>
        <p:nvSpPr>
          <p:cNvPr id="49" name="Text 47"/>
          <p:cNvSpPr txBox="1"/>
          <p:nvPr/>
        </p:nvSpPr>
        <p:spPr>
          <a:xfrm>
            <a:off x="594360" y="3456432"/>
            <a:ext cx="2926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Exit enterprise value</a:t>
            </a:r>
            <a:endParaRPr lang="en-US" sz="1000" dirty="0"/>
          </a:p>
        </p:txBody>
      </p:sp>
      <p:sp>
        <p:nvSpPr>
          <p:cNvPr id="50" name="Shape 48"/>
          <p:cNvSpPr/>
          <p:nvPr/>
        </p:nvSpPr>
        <p:spPr>
          <a:xfrm>
            <a:off x="3611880" y="3456432"/>
            <a:ext cx="2679192" cy="274320"/>
          </a:xfrm>
          <a:prstGeom prst="rect">
            <a:avLst/>
          </a:prstGeom>
          <a:solidFill>
            <a:srgbClr val="0F2340"/>
          </a:solidFill>
          <a:ln w="6350">
            <a:solidFill>
              <a:srgbClr val="1E3963"/>
            </a:solidFill>
            <a:prstDash val="solid"/>
          </a:ln>
        </p:spPr>
      </p:sp>
      <p:sp>
        <p:nvSpPr>
          <p:cNvPr id="51" name="Text 49"/>
          <p:cNvSpPr txBox="1"/>
          <p:nvPr/>
        </p:nvSpPr>
        <p:spPr>
          <a:xfrm>
            <a:off x="3703320" y="3456432"/>
            <a:ext cx="249631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₹615 L</a:t>
            </a:r>
            <a:endParaRPr lang="en-US" sz="1000" dirty="0"/>
          </a:p>
        </p:txBody>
      </p:sp>
      <p:sp>
        <p:nvSpPr>
          <p:cNvPr id="52" name="Shape 50"/>
          <p:cNvSpPr/>
          <p:nvPr/>
        </p:nvSpPr>
        <p:spPr>
          <a:xfrm>
            <a:off x="6291072" y="3456432"/>
            <a:ext cx="2679192" cy="274320"/>
          </a:xfrm>
          <a:prstGeom prst="rect">
            <a:avLst/>
          </a:prstGeom>
          <a:solidFill>
            <a:srgbClr val="142B4D"/>
          </a:solidFill>
          <a:ln w="6350">
            <a:solidFill>
              <a:srgbClr val="1E3963"/>
            </a:solidFill>
            <a:prstDash val="solid"/>
          </a:ln>
        </p:spPr>
      </p:sp>
      <p:sp>
        <p:nvSpPr>
          <p:cNvPr id="53" name="Text 51"/>
          <p:cNvSpPr txBox="1"/>
          <p:nvPr/>
        </p:nvSpPr>
        <p:spPr>
          <a:xfrm>
            <a:off x="6382512" y="3456432"/>
            <a:ext cx="249631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₹1,639 L</a:t>
            </a:r>
            <a:endParaRPr lang="en-US" sz="1000" dirty="0"/>
          </a:p>
        </p:txBody>
      </p:sp>
      <p:sp>
        <p:nvSpPr>
          <p:cNvPr id="54" name="Shape 52"/>
          <p:cNvSpPr/>
          <p:nvPr/>
        </p:nvSpPr>
        <p:spPr>
          <a:xfrm>
            <a:off x="8970264" y="3456432"/>
            <a:ext cx="2679192" cy="274320"/>
          </a:xfrm>
          <a:prstGeom prst="rect">
            <a:avLst/>
          </a:prstGeom>
          <a:solidFill>
            <a:srgbClr val="0F2340"/>
          </a:solidFill>
          <a:ln w="6350">
            <a:solidFill>
              <a:srgbClr val="1E3963"/>
            </a:solidFill>
            <a:prstDash val="solid"/>
          </a:ln>
        </p:spPr>
      </p:sp>
      <p:sp>
        <p:nvSpPr>
          <p:cNvPr id="55" name="Text 53"/>
          <p:cNvSpPr txBox="1"/>
          <p:nvPr/>
        </p:nvSpPr>
        <p:spPr>
          <a:xfrm>
            <a:off x="9061704" y="3456432"/>
            <a:ext cx="249631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₹3,074 L</a:t>
            </a:r>
            <a:endParaRPr lang="en-US" sz="1000" dirty="0"/>
          </a:p>
        </p:txBody>
      </p:sp>
      <p:sp>
        <p:nvSpPr>
          <p:cNvPr id="56" name="Shape 54"/>
          <p:cNvSpPr/>
          <p:nvPr/>
        </p:nvSpPr>
        <p:spPr>
          <a:xfrm>
            <a:off x="502920" y="3730752"/>
            <a:ext cx="3108960" cy="274320"/>
          </a:xfrm>
          <a:prstGeom prst="rect">
            <a:avLst/>
          </a:prstGeom>
          <a:solidFill>
            <a:srgbClr val="0A1A30"/>
          </a:solidFill>
          <a:ln w="6350">
            <a:solidFill>
              <a:srgbClr val="1E3963"/>
            </a:solidFill>
            <a:prstDash val="solid"/>
          </a:ln>
        </p:spPr>
      </p:sp>
      <p:sp>
        <p:nvSpPr>
          <p:cNvPr id="57" name="Text 55"/>
          <p:cNvSpPr txBox="1"/>
          <p:nvPr/>
        </p:nvSpPr>
        <p:spPr>
          <a:xfrm>
            <a:off x="594360" y="3730752"/>
            <a:ext cx="2926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Diluted investor stake at exit</a:t>
            </a:r>
            <a:endParaRPr lang="en-US" sz="1000" dirty="0"/>
          </a:p>
        </p:txBody>
      </p:sp>
      <p:sp>
        <p:nvSpPr>
          <p:cNvPr id="58" name="Shape 56"/>
          <p:cNvSpPr/>
          <p:nvPr/>
        </p:nvSpPr>
        <p:spPr>
          <a:xfrm>
            <a:off x="3611880" y="3730752"/>
            <a:ext cx="2679192" cy="274320"/>
          </a:xfrm>
          <a:prstGeom prst="rect">
            <a:avLst/>
          </a:prstGeom>
          <a:solidFill>
            <a:srgbClr val="0A1A30"/>
          </a:solidFill>
          <a:ln w="6350">
            <a:solidFill>
              <a:srgbClr val="1E3963"/>
            </a:solidFill>
            <a:prstDash val="solid"/>
          </a:ln>
        </p:spPr>
      </p:sp>
      <p:sp>
        <p:nvSpPr>
          <p:cNvPr id="59" name="Text 57"/>
          <p:cNvSpPr txBox="1"/>
          <p:nvPr/>
        </p:nvSpPr>
        <p:spPr>
          <a:xfrm>
            <a:off x="3703320" y="3730752"/>
            <a:ext cx="249631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10%</a:t>
            </a:r>
            <a:endParaRPr lang="en-US" sz="1000" dirty="0"/>
          </a:p>
        </p:txBody>
      </p:sp>
      <p:sp>
        <p:nvSpPr>
          <p:cNvPr id="60" name="Shape 58"/>
          <p:cNvSpPr/>
          <p:nvPr/>
        </p:nvSpPr>
        <p:spPr>
          <a:xfrm>
            <a:off x="6291072" y="3730752"/>
            <a:ext cx="2679192" cy="274320"/>
          </a:xfrm>
          <a:prstGeom prst="rect">
            <a:avLst/>
          </a:prstGeom>
          <a:solidFill>
            <a:srgbClr val="142B4D"/>
          </a:solidFill>
          <a:ln w="6350">
            <a:solidFill>
              <a:srgbClr val="1E3963"/>
            </a:solidFill>
            <a:prstDash val="solid"/>
          </a:ln>
        </p:spPr>
      </p:sp>
      <p:sp>
        <p:nvSpPr>
          <p:cNvPr id="61" name="Text 59"/>
          <p:cNvSpPr txBox="1"/>
          <p:nvPr/>
        </p:nvSpPr>
        <p:spPr>
          <a:xfrm>
            <a:off x="6382512" y="3730752"/>
            <a:ext cx="249631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12%</a:t>
            </a:r>
            <a:endParaRPr lang="en-US" sz="1000" dirty="0"/>
          </a:p>
        </p:txBody>
      </p:sp>
      <p:sp>
        <p:nvSpPr>
          <p:cNvPr id="62" name="Shape 60"/>
          <p:cNvSpPr/>
          <p:nvPr/>
        </p:nvSpPr>
        <p:spPr>
          <a:xfrm>
            <a:off x="8970264" y="3730752"/>
            <a:ext cx="2679192" cy="274320"/>
          </a:xfrm>
          <a:prstGeom prst="rect">
            <a:avLst/>
          </a:prstGeom>
          <a:solidFill>
            <a:srgbClr val="0A1A30"/>
          </a:solidFill>
          <a:ln w="6350">
            <a:solidFill>
              <a:srgbClr val="1E3963"/>
            </a:solidFill>
            <a:prstDash val="solid"/>
          </a:ln>
        </p:spPr>
      </p:sp>
      <p:sp>
        <p:nvSpPr>
          <p:cNvPr id="63" name="Text 61"/>
          <p:cNvSpPr txBox="1"/>
          <p:nvPr/>
        </p:nvSpPr>
        <p:spPr>
          <a:xfrm>
            <a:off x="9061704" y="3730752"/>
            <a:ext cx="249631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14%</a:t>
            </a:r>
            <a:endParaRPr lang="en-US" sz="1000" dirty="0"/>
          </a:p>
        </p:txBody>
      </p:sp>
      <p:sp>
        <p:nvSpPr>
          <p:cNvPr id="64" name="Shape 62"/>
          <p:cNvSpPr/>
          <p:nvPr/>
        </p:nvSpPr>
        <p:spPr>
          <a:xfrm>
            <a:off x="502920" y="4005072"/>
            <a:ext cx="3108960" cy="274320"/>
          </a:xfrm>
          <a:prstGeom prst="rect">
            <a:avLst/>
          </a:prstGeom>
          <a:solidFill>
            <a:srgbClr val="0F2340"/>
          </a:solidFill>
          <a:ln w="6350">
            <a:solidFill>
              <a:srgbClr val="1E3963"/>
            </a:solidFill>
            <a:prstDash val="solid"/>
          </a:ln>
        </p:spPr>
      </p:sp>
      <p:sp>
        <p:nvSpPr>
          <p:cNvPr id="65" name="Text 63"/>
          <p:cNvSpPr txBox="1"/>
          <p:nvPr/>
        </p:nvSpPr>
        <p:spPr>
          <a:xfrm>
            <a:off x="594360" y="4005072"/>
            <a:ext cx="2926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Investor exit value</a:t>
            </a:r>
            <a:endParaRPr lang="en-US" sz="1000" dirty="0"/>
          </a:p>
        </p:txBody>
      </p:sp>
      <p:sp>
        <p:nvSpPr>
          <p:cNvPr id="66" name="Shape 64"/>
          <p:cNvSpPr/>
          <p:nvPr/>
        </p:nvSpPr>
        <p:spPr>
          <a:xfrm>
            <a:off x="3611880" y="4005072"/>
            <a:ext cx="2679192" cy="274320"/>
          </a:xfrm>
          <a:prstGeom prst="rect">
            <a:avLst/>
          </a:prstGeom>
          <a:solidFill>
            <a:srgbClr val="0F2340"/>
          </a:solidFill>
          <a:ln w="6350">
            <a:solidFill>
              <a:srgbClr val="1E3963"/>
            </a:solidFill>
            <a:prstDash val="solid"/>
          </a:ln>
        </p:spPr>
      </p:sp>
      <p:sp>
        <p:nvSpPr>
          <p:cNvPr id="67" name="Text 65"/>
          <p:cNvSpPr txBox="1"/>
          <p:nvPr/>
        </p:nvSpPr>
        <p:spPr>
          <a:xfrm>
            <a:off x="3703320" y="4005072"/>
            <a:ext cx="249631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₹61 L</a:t>
            </a:r>
            <a:endParaRPr lang="en-US" sz="1000" dirty="0"/>
          </a:p>
        </p:txBody>
      </p:sp>
      <p:sp>
        <p:nvSpPr>
          <p:cNvPr id="68" name="Shape 66"/>
          <p:cNvSpPr/>
          <p:nvPr/>
        </p:nvSpPr>
        <p:spPr>
          <a:xfrm>
            <a:off x="6291072" y="4005072"/>
            <a:ext cx="2679192" cy="274320"/>
          </a:xfrm>
          <a:prstGeom prst="rect">
            <a:avLst/>
          </a:prstGeom>
          <a:solidFill>
            <a:srgbClr val="142B4D"/>
          </a:solidFill>
          <a:ln w="6350">
            <a:solidFill>
              <a:srgbClr val="1E3963"/>
            </a:solidFill>
            <a:prstDash val="solid"/>
          </a:ln>
        </p:spPr>
      </p:sp>
      <p:sp>
        <p:nvSpPr>
          <p:cNvPr id="69" name="Text 67"/>
          <p:cNvSpPr txBox="1"/>
          <p:nvPr/>
        </p:nvSpPr>
        <p:spPr>
          <a:xfrm>
            <a:off x="6382512" y="4005072"/>
            <a:ext cx="249631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₹197 L</a:t>
            </a:r>
            <a:endParaRPr lang="en-US" sz="1000" dirty="0"/>
          </a:p>
        </p:txBody>
      </p:sp>
      <p:sp>
        <p:nvSpPr>
          <p:cNvPr id="70" name="Shape 68"/>
          <p:cNvSpPr/>
          <p:nvPr/>
        </p:nvSpPr>
        <p:spPr>
          <a:xfrm>
            <a:off x="8970264" y="4005072"/>
            <a:ext cx="2679192" cy="274320"/>
          </a:xfrm>
          <a:prstGeom prst="rect">
            <a:avLst/>
          </a:prstGeom>
          <a:solidFill>
            <a:srgbClr val="0F2340"/>
          </a:solidFill>
          <a:ln w="6350">
            <a:solidFill>
              <a:srgbClr val="1E3963"/>
            </a:solidFill>
            <a:prstDash val="solid"/>
          </a:ln>
        </p:spPr>
      </p:sp>
      <p:sp>
        <p:nvSpPr>
          <p:cNvPr id="71" name="Text 69"/>
          <p:cNvSpPr txBox="1"/>
          <p:nvPr/>
        </p:nvSpPr>
        <p:spPr>
          <a:xfrm>
            <a:off x="9061704" y="4005072"/>
            <a:ext cx="249631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₹430 L</a:t>
            </a:r>
            <a:endParaRPr lang="en-US" sz="1000" dirty="0"/>
          </a:p>
        </p:txBody>
      </p:sp>
      <p:sp>
        <p:nvSpPr>
          <p:cNvPr id="72" name="Shape 70"/>
          <p:cNvSpPr/>
          <p:nvPr/>
        </p:nvSpPr>
        <p:spPr>
          <a:xfrm>
            <a:off x="502920" y="4279392"/>
            <a:ext cx="3108960" cy="274320"/>
          </a:xfrm>
          <a:prstGeom prst="rect">
            <a:avLst/>
          </a:prstGeom>
          <a:solidFill>
            <a:srgbClr val="0A1A30"/>
          </a:solidFill>
          <a:ln w="6350">
            <a:solidFill>
              <a:srgbClr val="1E3963"/>
            </a:solidFill>
            <a:prstDash val="solid"/>
          </a:ln>
        </p:spPr>
      </p:sp>
      <p:sp>
        <p:nvSpPr>
          <p:cNvPr id="73" name="Text 71"/>
          <p:cNvSpPr txBox="1"/>
          <p:nvPr/>
        </p:nvSpPr>
        <p:spPr>
          <a:xfrm>
            <a:off x="594360" y="4279392"/>
            <a:ext cx="2926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MOIC</a:t>
            </a:r>
            <a:endParaRPr lang="en-US" sz="1000" dirty="0"/>
          </a:p>
        </p:txBody>
      </p:sp>
      <p:sp>
        <p:nvSpPr>
          <p:cNvPr id="74" name="Shape 72"/>
          <p:cNvSpPr/>
          <p:nvPr/>
        </p:nvSpPr>
        <p:spPr>
          <a:xfrm>
            <a:off x="3611880" y="4279392"/>
            <a:ext cx="2679192" cy="274320"/>
          </a:xfrm>
          <a:prstGeom prst="rect">
            <a:avLst/>
          </a:prstGeom>
          <a:solidFill>
            <a:srgbClr val="0A1A30"/>
          </a:solidFill>
          <a:ln w="6350">
            <a:solidFill>
              <a:srgbClr val="1E3963"/>
            </a:solidFill>
            <a:prstDash val="solid"/>
          </a:ln>
        </p:spPr>
      </p:sp>
      <p:sp>
        <p:nvSpPr>
          <p:cNvPr id="75" name="Text 73"/>
          <p:cNvSpPr txBox="1"/>
          <p:nvPr/>
        </p:nvSpPr>
        <p:spPr>
          <a:xfrm>
            <a:off x="3703320" y="4279392"/>
            <a:ext cx="249631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1.4x</a:t>
            </a:r>
            <a:endParaRPr lang="en-US" sz="1000" dirty="0"/>
          </a:p>
        </p:txBody>
      </p:sp>
      <p:sp>
        <p:nvSpPr>
          <p:cNvPr id="76" name="Shape 74"/>
          <p:cNvSpPr/>
          <p:nvPr/>
        </p:nvSpPr>
        <p:spPr>
          <a:xfrm>
            <a:off x="6291072" y="4279392"/>
            <a:ext cx="2679192" cy="274320"/>
          </a:xfrm>
          <a:prstGeom prst="rect">
            <a:avLst/>
          </a:prstGeom>
          <a:solidFill>
            <a:srgbClr val="142B4D"/>
          </a:solidFill>
          <a:ln w="6350">
            <a:solidFill>
              <a:srgbClr val="1E3963"/>
            </a:solidFill>
            <a:prstDash val="solid"/>
          </a:ln>
        </p:spPr>
      </p:sp>
      <p:sp>
        <p:nvSpPr>
          <p:cNvPr id="77" name="Text 75"/>
          <p:cNvSpPr txBox="1"/>
          <p:nvPr/>
        </p:nvSpPr>
        <p:spPr>
          <a:xfrm>
            <a:off x="6382512" y="4279392"/>
            <a:ext cx="249631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4.4x</a:t>
            </a:r>
            <a:endParaRPr lang="en-US" sz="1000" dirty="0"/>
          </a:p>
        </p:txBody>
      </p:sp>
      <p:sp>
        <p:nvSpPr>
          <p:cNvPr id="78" name="Shape 76"/>
          <p:cNvSpPr/>
          <p:nvPr/>
        </p:nvSpPr>
        <p:spPr>
          <a:xfrm>
            <a:off x="8970264" y="4279392"/>
            <a:ext cx="2679192" cy="274320"/>
          </a:xfrm>
          <a:prstGeom prst="rect">
            <a:avLst/>
          </a:prstGeom>
          <a:solidFill>
            <a:srgbClr val="0A1A30"/>
          </a:solidFill>
          <a:ln w="6350">
            <a:solidFill>
              <a:srgbClr val="1E3963"/>
            </a:solidFill>
            <a:prstDash val="solid"/>
          </a:ln>
        </p:spPr>
      </p:sp>
      <p:sp>
        <p:nvSpPr>
          <p:cNvPr id="79" name="Text 77"/>
          <p:cNvSpPr txBox="1"/>
          <p:nvPr/>
        </p:nvSpPr>
        <p:spPr>
          <a:xfrm>
            <a:off x="9061704" y="4279392"/>
            <a:ext cx="249631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9.6x</a:t>
            </a:r>
            <a:endParaRPr lang="en-US" sz="1000" dirty="0"/>
          </a:p>
        </p:txBody>
      </p:sp>
      <p:sp>
        <p:nvSpPr>
          <p:cNvPr id="80" name="Shape 78"/>
          <p:cNvSpPr/>
          <p:nvPr/>
        </p:nvSpPr>
        <p:spPr>
          <a:xfrm>
            <a:off x="502920" y="4553712"/>
            <a:ext cx="3108960" cy="274320"/>
          </a:xfrm>
          <a:prstGeom prst="rect">
            <a:avLst/>
          </a:prstGeom>
          <a:solidFill>
            <a:srgbClr val="0F2340"/>
          </a:solidFill>
          <a:ln w="6350">
            <a:solidFill>
              <a:srgbClr val="1E3963"/>
            </a:solidFill>
            <a:prstDash val="solid"/>
          </a:ln>
        </p:spPr>
      </p:sp>
      <p:sp>
        <p:nvSpPr>
          <p:cNvPr id="81" name="Text 79"/>
          <p:cNvSpPr txBox="1"/>
          <p:nvPr/>
        </p:nvSpPr>
        <p:spPr>
          <a:xfrm>
            <a:off x="594360" y="4553712"/>
            <a:ext cx="2926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5-yr IRR</a:t>
            </a:r>
            <a:endParaRPr lang="en-US" sz="1000" dirty="0"/>
          </a:p>
        </p:txBody>
      </p:sp>
      <p:sp>
        <p:nvSpPr>
          <p:cNvPr id="82" name="Shape 80"/>
          <p:cNvSpPr/>
          <p:nvPr/>
        </p:nvSpPr>
        <p:spPr>
          <a:xfrm>
            <a:off x="3611880" y="4553712"/>
            <a:ext cx="2679192" cy="274320"/>
          </a:xfrm>
          <a:prstGeom prst="rect">
            <a:avLst/>
          </a:prstGeom>
          <a:solidFill>
            <a:srgbClr val="0F2340"/>
          </a:solidFill>
          <a:ln w="6350">
            <a:solidFill>
              <a:srgbClr val="1E3963"/>
            </a:solidFill>
            <a:prstDash val="solid"/>
          </a:ln>
        </p:spPr>
      </p:sp>
      <p:sp>
        <p:nvSpPr>
          <p:cNvPr id="83" name="Text 81"/>
          <p:cNvSpPr txBox="1"/>
          <p:nvPr/>
        </p:nvSpPr>
        <p:spPr>
          <a:xfrm>
            <a:off x="3703320" y="4553712"/>
            <a:ext cx="249631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~7%</a:t>
            </a:r>
            <a:endParaRPr lang="en-US" sz="1000" dirty="0"/>
          </a:p>
        </p:txBody>
      </p:sp>
      <p:sp>
        <p:nvSpPr>
          <p:cNvPr id="84" name="Shape 82"/>
          <p:cNvSpPr/>
          <p:nvPr/>
        </p:nvSpPr>
        <p:spPr>
          <a:xfrm>
            <a:off x="6291072" y="4553712"/>
            <a:ext cx="2679192" cy="274320"/>
          </a:xfrm>
          <a:prstGeom prst="rect">
            <a:avLst/>
          </a:prstGeom>
          <a:solidFill>
            <a:srgbClr val="142B4D"/>
          </a:solidFill>
          <a:ln w="6350">
            <a:solidFill>
              <a:srgbClr val="1E3963"/>
            </a:solidFill>
            <a:prstDash val="solid"/>
          </a:ln>
        </p:spPr>
      </p:sp>
      <p:sp>
        <p:nvSpPr>
          <p:cNvPr id="85" name="Text 83"/>
          <p:cNvSpPr txBox="1"/>
          <p:nvPr/>
        </p:nvSpPr>
        <p:spPr>
          <a:xfrm>
            <a:off x="6382512" y="4553712"/>
            <a:ext cx="249631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~34%</a:t>
            </a:r>
            <a:endParaRPr lang="en-US" sz="1000" dirty="0"/>
          </a:p>
        </p:txBody>
      </p:sp>
      <p:sp>
        <p:nvSpPr>
          <p:cNvPr id="86" name="Shape 84"/>
          <p:cNvSpPr/>
          <p:nvPr/>
        </p:nvSpPr>
        <p:spPr>
          <a:xfrm>
            <a:off x="8970264" y="4553712"/>
            <a:ext cx="2679192" cy="274320"/>
          </a:xfrm>
          <a:prstGeom prst="rect">
            <a:avLst/>
          </a:prstGeom>
          <a:solidFill>
            <a:srgbClr val="0F2340"/>
          </a:solidFill>
          <a:ln w="6350">
            <a:solidFill>
              <a:srgbClr val="1E3963"/>
            </a:solidFill>
            <a:prstDash val="solid"/>
          </a:ln>
        </p:spPr>
      </p:sp>
      <p:sp>
        <p:nvSpPr>
          <p:cNvPr id="87" name="Text 85"/>
          <p:cNvSpPr txBox="1"/>
          <p:nvPr/>
        </p:nvSpPr>
        <p:spPr>
          <a:xfrm>
            <a:off x="9061704" y="4553712"/>
            <a:ext cx="249631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~57%</a:t>
            </a:r>
            <a:endParaRPr lang="en-US" sz="1000" dirty="0"/>
          </a:p>
        </p:txBody>
      </p:sp>
      <p:sp>
        <p:nvSpPr>
          <p:cNvPr id="88" name="Text 86"/>
          <p:cNvSpPr txBox="1"/>
          <p:nvPr/>
        </p:nvSpPr>
        <p:spPr>
          <a:xfrm>
            <a:off x="502920" y="4974336"/>
            <a:ext cx="54864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Risks &amp; Mitigation</a:t>
            </a:r>
            <a:endParaRPr lang="en-US" sz="1250" dirty="0"/>
          </a:p>
        </p:txBody>
      </p:sp>
      <p:pic>
        <p:nvPicPr>
          <p:cNvPr id="89" name="Image 0" descr="/home/claude/autoease/icons/shield_FF7A00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02920" y="5294376"/>
            <a:ext cx="146304" cy="146304"/>
          </a:xfrm>
          <a:prstGeom prst="rect">
            <a:avLst/>
          </a:prstGeom>
        </p:spPr>
      </p:pic>
      <p:sp>
        <p:nvSpPr>
          <p:cNvPr id="90" name="Text 87"/>
          <p:cNvSpPr txBox="1"/>
          <p:nvPr/>
        </p:nvSpPr>
        <p:spPr>
          <a:xfrm>
            <a:off x="749808" y="5221224"/>
            <a:ext cx="54406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050"/>
              </a:lnSpc>
              <a:buNone/>
            </a:pPr>
            <a:r>
              <a:rPr lang="en-US" sz="930" dirty="0">
                <a:solidFill>
                  <a:srgbClr val="C7D4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Slow society penetration → pre-sell to 40–50 before full deployment</a:t>
            </a:r>
            <a:endParaRPr lang="en-US" sz="930" dirty="0"/>
          </a:p>
        </p:txBody>
      </p:sp>
      <p:pic>
        <p:nvPicPr>
          <p:cNvPr id="91" name="Image 1" descr="/home/claude/autoease/icons/shield_FF7A00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5568696"/>
            <a:ext cx="146304" cy="146304"/>
          </a:xfrm>
          <a:prstGeom prst="rect">
            <a:avLst/>
          </a:prstGeom>
        </p:spPr>
      </p:pic>
      <p:sp>
        <p:nvSpPr>
          <p:cNvPr id="92" name="Text 88"/>
          <p:cNvSpPr txBox="1"/>
          <p:nvPr/>
        </p:nvSpPr>
        <p:spPr>
          <a:xfrm>
            <a:off x="749808" y="5495544"/>
            <a:ext cx="54406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050"/>
              </a:lnSpc>
              <a:buNone/>
            </a:pPr>
            <a:r>
              <a:rPr lang="en-US" sz="930" dirty="0">
                <a:solidFill>
                  <a:srgbClr val="C7D4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Cleaner attrition / productivity → training &amp; app-based monitoring</a:t>
            </a:r>
            <a:endParaRPr lang="en-US" sz="930" dirty="0"/>
          </a:p>
        </p:txBody>
      </p:sp>
      <p:pic>
        <p:nvPicPr>
          <p:cNvPr id="93" name="Image 2" descr="/home/claude/autoease/icons/shield_FF7A00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2920" y="5843016"/>
            <a:ext cx="146304" cy="146304"/>
          </a:xfrm>
          <a:prstGeom prst="rect">
            <a:avLst/>
          </a:prstGeom>
        </p:spPr>
      </p:pic>
      <p:sp>
        <p:nvSpPr>
          <p:cNvPr id="94" name="Text 89"/>
          <p:cNvSpPr txBox="1"/>
          <p:nvPr/>
        </p:nvSpPr>
        <p:spPr>
          <a:xfrm>
            <a:off x="749808" y="5769864"/>
            <a:ext cx="54406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050"/>
              </a:lnSpc>
              <a:buNone/>
            </a:pPr>
            <a:r>
              <a:rPr lang="en-US" sz="930" dirty="0">
                <a:solidFill>
                  <a:srgbClr val="C7D4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Partner mechanic reliability → verification, ratings &amp; SLAs</a:t>
            </a:r>
            <a:endParaRPr lang="en-US" sz="930" dirty="0"/>
          </a:p>
        </p:txBody>
      </p:sp>
      <p:pic>
        <p:nvPicPr>
          <p:cNvPr id="95" name="Image 3" descr="/home/claude/autoease/icons/shield_FF7A00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02920" y="6117336"/>
            <a:ext cx="146304" cy="146304"/>
          </a:xfrm>
          <a:prstGeom prst="rect">
            <a:avLst/>
          </a:prstGeom>
        </p:spPr>
      </p:pic>
      <p:sp>
        <p:nvSpPr>
          <p:cNvPr id="96" name="Text 90"/>
          <p:cNvSpPr txBox="1"/>
          <p:nvPr/>
        </p:nvSpPr>
        <p:spPr>
          <a:xfrm>
            <a:off x="749808" y="6044184"/>
            <a:ext cx="54406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050"/>
              </a:lnSpc>
              <a:buNone/>
            </a:pPr>
            <a:r>
              <a:rPr lang="en-US" sz="930" dirty="0">
                <a:solidFill>
                  <a:srgbClr val="C7D4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Funded competitors → society-embedded workforce + bundled SOS moat</a:t>
            </a:r>
            <a:endParaRPr lang="en-US" sz="930" dirty="0"/>
          </a:p>
        </p:txBody>
      </p:sp>
      <p:sp>
        <p:nvSpPr>
          <p:cNvPr id="97" name="Text 91"/>
          <p:cNvSpPr txBox="1"/>
          <p:nvPr/>
        </p:nvSpPr>
        <p:spPr>
          <a:xfrm>
            <a:off x="6263640" y="4974336"/>
            <a:ext cx="54864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AutoEase Wins If We Prove</a:t>
            </a:r>
            <a:endParaRPr lang="en-US" sz="1250" dirty="0"/>
          </a:p>
        </p:txBody>
      </p:sp>
      <p:pic>
        <p:nvPicPr>
          <p:cNvPr id="98" name="Image 4" descr="/home/claude/autoease/icons/check_FF7A00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263640" y="5294376"/>
            <a:ext cx="137160" cy="137160"/>
          </a:xfrm>
          <a:prstGeom prst="rect">
            <a:avLst/>
          </a:prstGeom>
        </p:spPr>
      </p:pic>
      <p:sp>
        <p:nvSpPr>
          <p:cNvPr id="99" name="Text 92"/>
          <p:cNvSpPr txBox="1"/>
          <p:nvPr/>
        </p:nvSpPr>
        <p:spPr>
          <a:xfrm>
            <a:off x="6492240" y="5244084"/>
            <a:ext cx="51206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30" dirty="0">
                <a:solidFill>
                  <a:srgbClr val="C7D4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Customers reliably pay ₹799/month</a:t>
            </a:r>
            <a:endParaRPr lang="en-US" sz="930" dirty="0"/>
          </a:p>
        </p:txBody>
      </p:sp>
      <p:pic>
        <p:nvPicPr>
          <p:cNvPr id="100" name="Image 5" descr="/home/claude/autoease/icons/check_FF7A00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263640" y="5541264"/>
            <a:ext cx="137160" cy="137160"/>
          </a:xfrm>
          <a:prstGeom prst="rect">
            <a:avLst/>
          </a:prstGeom>
        </p:spPr>
      </p:pic>
      <p:sp>
        <p:nvSpPr>
          <p:cNvPr id="101" name="Text 93"/>
          <p:cNvSpPr txBox="1"/>
          <p:nvPr/>
        </p:nvSpPr>
        <p:spPr>
          <a:xfrm>
            <a:off x="6492240" y="5490972"/>
            <a:ext cx="51206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30" dirty="0">
                <a:solidFill>
                  <a:srgbClr val="C7D4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40–50+ customers acquired per society</a:t>
            </a:r>
            <a:endParaRPr lang="en-US" sz="930" dirty="0"/>
          </a:p>
        </p:txBody>
      </p:sp>
      <p:pic>
        <p:nvPicPr>
          <p:cNvPr id="102" name="Image 6" descr="/home/claude/autoease/icons/check_FF7A00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263640" y="5788152"/>
            <a:ext cx="137160" cy="137160"/>
          </a:xfrm>
          <a:prstGeom prst="rect">
            <a:avLst/>
          </a:prstGeom>
        </p:spPr>
      </p:pic>
      <p:sp>
        <p:nvSpPr>
          <p:cNvPr id="103" name="Text 94"/>
          <p:cNvSpPr txBox="1"/>
          <p:nvPr/>
        </p:nvSpPr>
        <p:spPr>
          <a:xfrm>
            <a:off x="6492240" y="5737860"/>
            <a:ext cx="51206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30" dirty="0">
                <a:solidFill>
                  <a:srgbClr val="C7D4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Two cleaners handle 72-car capacity</a:t>
            </a:r>
            <a:endParaRPr lang="en-US" sz="930" dirty="0"/>
          </a:p>
        </p:txBody>
      </p:sp>
      <p:pic>
        <p:nvPicPr>
          <p:cNvPr id="104" name="Image 7" descr="/home/claude/autoease/icons/check_FF7A00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263640" y="6035040"/>
            <a:ext cx="137160" cy="137160"/>
          </a:xfrm>
          <a:prstGeom prst="rect">
            <a:avLst/>
          </a:prstGeom>
        </p:spPr>
      </p:pic>
      <p:sp>
        <p:nvSpPr>
          <p:cNvPr id="105" name="Text 95"/>
          <p:cNvSpPr txBox="1"/>
          <p:nvPr/>
        </p:nvSpPr>
        <p:spPr>
          <a:xfrm>
            <a:off x="6492240" y="5984748"/>
            <a:ext cx="51206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30" dirty="0">
                <a:solidFill>
                  <a:srgbClr val="C7D4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Service quality &amp; retention stay strong</a:t>
            </a:r>
            <a:endParaRPr lang="en-US" sz="930" dirty="0"/>
          </a:p>
        </p:txBody>
      </p:sp>
      <p:pic>
        <p:nvPicPr>
          <p:cNvPr id="106" name="Image 8" descr="/home/claude/autoease/icons/check_FF7A00.png">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6263640" y="6281928"/>
            <a:ext cx="137160" cy="137160"/>
          </a:xfrm>
          <a:prstGeom prst="rect">
            <a:avLst/>
          </a:prstGeom>
        </p:spPr>
      </p:pic>
      <p:sp>
        <p:nvSpPr>
          <p:cNvPr id="107" name="Text 96"/>
          <p:cNvSpPr txBox="1"/>
          <p:nvPr/>
        </p:nvSpPr>
        <p:spPr>
          <a:xfrm>
            <a:off x="6492240" y="6231636"/>
            <a:ext cx="51206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30" dirty="0">
                <a:solidFill>
                  <a:srgbClr val="C7D4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Emergency layer lifts customer LTV</a:t>
            </a:r>
            <a:endParaRPr lang="en-US" sz="930" dirty="0"/>
          </a:p>
        </p:txBody>
      </p:sp>
      <p:sp>
        <p:nvSpPr>
          <p:cNvPr id="108" name="Shape 97"/>
          <p:cNvSpPr/>
          <p:nvPr/>
        </p:nvSpPr>
        <p:spPr>
          <a:xfrm>
            <a:off x="0" y="6419088"/>
            <a:ext cx="12191695" cy="438912"/>
          </a:xfrm>
          <a:prstGeom prst="rect">
            <a:avLst/>
          </a:prstGeom>
          <a:solidFill>
            <a:srgbClr val="0A1A30"/>
          </a:solidFill>
          <a:ln/>
        </p:spPr>
      </p:sp>
      <p:sp>
        <p:nvSpPr>
          <p:cNvPr id="109" name="Text 98"/>
          <p:cNvSpPr txBox="1"/>
          <p:nvPr/>
        </p:nvSpPr>
        <p:spPr>
          <a:xfrm>
            <a:off x="502920" y="6419088"/>
            <a:ext cx="1115568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i="1" dirty="0">
                <a:solidFill>
                  <a:srgbClr val="FF7A0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₹45 Lakh to prove the Noida playbook — then scale across NCR.</a:t>
            </a:r>
            <a:endParaRPr lang="en-US" sz="14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5</Slides>
  <Notes>5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</vt:i4>
      </vt:variant>
    </vt:vector>
  </HeadingPairs>
  <TitlesOfParts>
    <vt:vector size="8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2026-09-03T18:26:57Z</dcterms:created>
  <dcterms:modified xsi:type="dcterms:W3CDTF">2026-09-03T18:26:57Z</dcterms:modified>
</cp:coreProperties>
</file>